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SpecialPlsOnTitleSld="0">
  <p:sldMasterIdLst>
    <p:sldMasterId id="2147483674" r:id="rId1"/>
    <p:sldMasterId id="2147483688" r:id="rId2"/>
  </p:sldMasterIdLst>
  <p:notesMasterIdLst>
    <p:notesMasterId r:id="rId3"/>
  </p:notesMasterIdLst>
  <p:handoutMasterIdLst>
    <p:handoutMasterId r:id="rId4"/>
  </p:handoutMasterIdLst>
  <p:sldIdLst>
    <p:sldId id="256" r:id="rId5"/>
    <p:sldId id="1006" r:id="rId6"/>
    <p:sldId id="1005" r:id="rId7"/>
    <p:sldId id="1008" r:id="rId8"/>
    <p:sldId id="1009" r:id="rId9"/>
    <p:sldId id="1007" r:id="rId10"/>
    <p:sldId id="1004" r:id="rId11"/>
    <p:sldId id="1010" r:id="rId12"/>
    <p:sldId id="260" r:id="rId13"/>
  </p:sldIdLst>
  <p:sldSz cx="9144000" cy="6858000" type="screen4x3"/>
  <p:notesSz cx="6797675" cy="9928225"/>
  <p:defaultTextStyle>
    <a:defPPr>
      <a:defRPr lang="fr-F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mAuthor id="1" name="Ammar KHEIRBEK" initials="AK" lastIdx="1" clrIdx="0"/>
</p:cmAuthorLst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TxStyle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TxStyle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vertBarState="minimized">
    <p:restoredLeft sz="45085" autoAdjust="0"/>
    <p:restoredTop sz="91156" autoAdjust="0"/>
  </p:normalViewPr>
  <p:slideViewPr>
    <p:cSldViewPr snapToGrid="0">
      <p:cViewPr varScale="1">
        <p:scale>
          <a:sx n="100" d="100"/>
          <a:sy n="100" d="100"/>
        </p:scale>
        <p:origin x="176" y="2248"/>
      </p:cViewPr>
      <p:guideLst>
        <p:guide orient="horz" pos="2156"/>
        <p:guide pos="2880"/>
      </p:guideLst>
    </p:cSldViewPr>
  </p:slideViewPr>
  <p:outlineViewPr>
    <p:cViewPr>
      <p:scale>
        <a:sx n="33" d="100"/>
        <a:sy n="33" d="100"/>
      </p:scale>
      <p:origin x="0" y="-928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>
        <p:guide orient="horz" pos="3124"/>
        <p:guide pos="2137"/>
      </p:guideLst>
    </p:cSldViewPr>
  </p:notesViewPr>
  <p:gridSpacing cx="719999" cy="71999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6.xml"  /><Relationship Id="rId11" Type="http://schemas.openxmlformats.org/officeDocument/2006/relationships/slide" Target="slides/slide7.xml"  /><Relationship Id="rId12" Type="http://schemas.openxmlformats.org/officeDocument/2006/relationships/slide" Target="slides/slide8.xml"  /><Relationship Id="rId13" Type="http://schemas.openxmlformats.org/officeDocument/2006/relationships/slide" Target="slides/slide9.xml"  /><Relationship Id="rId14" Type="http://schemas.openxmlformats.org/officeDocument/2006/relationships/commentAuthors" Target="commentAuthors.xml"  /><Relationship Id="rId15" Type="http://schemas.openxmlformats.org/officeDocument/2006/relationships/presProps" Target="presProps.xml"  /><Relationship Id="rId16" Type="http://schemas.openxmlformats.org/officeDocument/2006/relationships/viewProps" Target="viewProps.xml"  /><Relationship Id="rId17" Type="http://schemas.openxmlformats.org/officeDocument/2006/relationships/theme" Target="theme/theme1.xml"  /><Relationship Id="rId18" Type="http://schemas.openxmlformats.org/officeDocument/2006/relationships/tableStyles" Target="tableStyles.xml"  /><Relationship Id="rId2" Type="http://schemas.openxmlformats.org/officeDocument/2006/relationships/slideMaster" Target="slideMasters/slideMaster2.xml"  /><Relationship Id="rId3" Type="http://schemas.openxmlformats.org/officeDocument/2006/relationships/notesMaster" Target="notesMasters/notesMaster1.xml"  /><Relationship Id="rId4" Type="http://schemas.openxmlformats.org/officeDocument/2006/relationships/handoutMaster" Target="handoutMasters/handoutMaster1.xml"  /><Relationship Id="rId5" Type="http://schemas.openxmlformats.org/officeDocument/2006/relationships/slide" Target="slides/slide1.xml"  /><Relationship Id="rId6" Type="http://schemas.openxmlformats.org/officeDocument/2006/relationships/slide" Target="slides/slide2.xml"  /><Relationship Id="rId7" Type="http://schemas.openxmlformats.org/officeDocument/2006/relationships/slide" Target="slides/slide3.xml"  /><Relationship Id="rId8" Type="http://schemas.openxmlformats.org/officeDocument/2006/relationships/slide" Target="slides/slide4.xml"  /><Relationship Id="rId9" Type="http://schemas.openxmlformats.org/officeDocument/2006/relationships/slide" Target="slides/slide5.xml"  /></Relationships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4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fr-FR">
              <a:latin typeface="Century Gothic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B4BF823-0249-4D28-9B32-DA80F949F272}" type="datetime1">
              <a:rPr lang="fr-FR">
                <a:latin typeface="Century Gothic"/>
              </a:rPr>
              <a:pPr lvl="0">
                <a:defRPr/>
              </a:pPr>
              <a:t>29/03/2026</a:t>
            </a:fld>
            <a:endParaRPr lang="fr-FR">
              <a:latin typeface="Century Gothic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fr-FR">
              <a:latin typeface="Century Gothic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63852623-6025-486A-8C34-5493AC02254D}" type="slidenum">
              <a:rPr lang="fr-FR">
                <a:latin typeface="Century Gothic"/>
              </a:rPr>
              <a:pPr lvl="0">
                <a:defRPr/>
              </a:pPr>
              <a:t>‹#›</a:t>
            </a:fld>
            <a:endParaRPr lang="fr-FR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7437941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>
                <a:latin typeface="Century Gothic"/>
              </a:defRPr>
            </a:lvl1pPr>
          </a:lstStyle>
          <a:p>
            <a:pPr lvl="0">
              <a:defRPr/>
            </a:pP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>
                <a:latin typeface="Century Gothic"/>
              </a:defRPr>
            </a:lvl1pPr>
          </a:lstStyle>
          <a:p>
            <a:pPr lvl="0">
              <a:defRPr/>
            </a:pPr>
            <a:fld id="{EC695B67-2576-403F-B11A-C32C854B9BC7}" type="datetime1">
              <a:rPr lang="fr-FR"/>
              <a:pPr lvl="0">
                <a:defRPr/>
              </a:pPr>
              <a:t>29/03/2026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>
                <a:latin typeface="Century Gothic"/>
              </a:defRPr>
            </a:lvl1pPr>
          </a:lstStyle>
          <a:p>
            <a:pPr lvl="0">
              <a:defRPr/>
            </a:pP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>
                <a:latin typeface="Century Gothic"/>
              </a:defRPr>
            </a:lvl1pPr>
          </a:lstStyle>
          <a:p>
            <a:pPr lvl="0">
              <a:defRPr/>
            </a:pPr>
            <a:fld id="{2DB98611-F957-4B4F-8646-94936A2091CB}" type="slidenum">
              <a:rPr lang="fr-FR"/>
              <a:pPr lvl="0"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00316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Century Gothic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Century Gothic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Century Gothic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Century Gothic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Century Gothic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98611-F957-4B4F-8646-94936A2091CB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2615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B0242-B9F7-8BD0-5A04-AB4B3B846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125079-C6CA-B247-B0B3-041DBE49B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63C430-18C8-3BCD-49A1-1F3ACEFB3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3E8FB-6F36-D240-9023-053E96A98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98611-F957-4B4F-8646-94936A2091CB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1716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3DDFF-1894-B3C1-E978-06BE49AA9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22ACBC-E94D-CB0B-DD4D-0028140D2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A7C17D-C353-004E-B767-C5ADCE431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D46E3-8D2B-029C-4662-52525100EE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98611-F957-4B4F-8646-94936A2091CB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8402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401C8-C9A9-14EA-B769-D3A60BA90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94DB3-10B0-7B93-2861-AB106B694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96C492-51E9-2CD9-DC3F-29580790E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ADF0F-0BC2-AC64-00FD-3E24D9A452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98611-F957-4B4F-8646-94936A2091CB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40983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3F2ED-5CC7-77A1-9226-946AEB0C9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20ED9A-C361-D684-D50D-8A2A0A7D7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2F3CCC-FB11-5EB1-EC32-E267406F0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0E7C7-4D18-FAAD-F6E9-9CF43D4632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98611-F957-4B4F-8646-94936A2091CB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99361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32DB7-5E80-55C9-216A-CC683E67E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6CDB5-04ED-0183-6D08-6FB3BB51A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4E755-7991-FE04-4A01-1067741DE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E17BD-86A4-CDF5-D7B2-D0B3FDF47A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98611-F957-4B4F-8646-94936A2091CB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88518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DD231-45CB-21AD-E3B0-C8AC3FE8A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2FD5AA-3ADA-0FEA-F398-9800EF2EC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80D76F-CF55-C19B-4600-8AA2ACF3B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7A1B3-12E1-198E-E67C-245D1417D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98611-F957-4B4F-8646-94936A2091CB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11062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ACE7B-0202-F7EC-5865-062E3DC37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ECEF8D-611E-D7FC-773D-D02B86E29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CD97CD-41C4-14F3-605B-6DE128B66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A2214-343D-DF4A-4182-3A61B6C69E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98611-F957-4B4F-8646-94936A2091CB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329473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2.png"  /><Relationship Id="rId3" Type="http://schemas.openxmlformats.org/officeDocument/2006/relationships/image" Target="../media/image1.png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Layouts/_rels/slideLayout1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1.png"  /></Relationships>
</file>

<file path=ppt/slideLayouts/_rels/slideLayout1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1.png"  /></Relationships>
</file>

<file path=ppt/slideLayouts/_rels/slideLayout1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1.png"  /></Relationships>
</file>

<file path=ppt/slideLayouts/_rels/slideLayout1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1.png"  /></Relationships>
</file>

<file path=ppt/slideLayouts/_rels/slideLayout1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1.png"  /></Relationships>
</file>

<file path=ppt/slideLayouts/_rels/slideLayout1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2.png"  /><Relationship Id="rId3" Type="http://schemas.openxmlformats.org/officeDocument/2006/relationships/image" Target="../media/image1.png"  /></Relationships>
</file>

<file path=ppt/slideLayouts/_rels/slideLayout2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1.png"  /></Relationships>
</file>

<file path=ppt/slideLayouts/_rels/slideLayout2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1.png"  /></Relationships>
</file>

<file path=ppt/slideLayouts/_rels/slideLayout2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1.png"  /></Relationships>
</file>

<file path=ppt/slideLayouts/_rels/slideLayout2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1.png"  /></Relationships>
</file>

<file path=ppt/slideLayouts/_rels/slideLayout2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07467" y="2492374"/>
            <a:ext cx="4185708" cy="1116013"/>
          </a:xfrm>
          <a:prstGeom prst="rect">
            <a:avLst/>
          </a:prstGeom>
        </p:spPr>
        <p:txBody>
          <a:bodyPr anchor="b" anchorCtr="0"/>
          <a:lstStyle>
            <a:lvl1pPr algn="l">
              <a:defRPr u="none">
                <a:solidFill>
                  <a:srgbClr val="0061A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457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756" y="5731933"/>
            <a:ext cx="2230420" cy="9403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923" y="368300"/>
            <a:ext cx="6840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736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8606" y="368300"/>
            <a:ext cx="8614172" cy="684000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 dirty="0"/>
              <a:t>Table of contents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430001" y="2492375"/>
            <a:ext cx="6462778" cy="3116651"/>
          </a:xfr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  <a:lvl2pPr marL="0" marR="0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>
                <a:solidFill>
                  <a:srgbClr val="0061A1"/>
                </a:solidFill>
              </a:defRPr>
            </a:lvl2pPr>
          </a:lstStyle>
          <a:p>
            <a:pPr lvl="1"/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01477" y="6303176"/>
            <a:ext cx="1428524" cy="360000"/>
          </a:xfrm>
        </p:spPr>
        <p:txBody>
          <a:bodyPr/>
          <a:lstStyle/>
          <a:p>
            <a:r>
              <a:rPr lang="fr-FR"/>
              <a:t>02/03/2015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75FB-55A1-49FD-BB5D-E3FF8FAE849B}" type="slidenum">
              <a:rPr lang="fr-FR" smtClean="0"/>
              <a:t>‹#›</a:t>
            </a:fld>
            <a:endParaRPr lang="fr-FR"/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2121694" y="2492375"/>
            <a:ext cx="11906" cy="3116651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73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9399" y="368300"/>
            <a:ext cx="8610269" cy="716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9400" y="2492374"/>
            <a:ext cx="8613775" cy="11160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977066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02/03/2015</a:t>
            </a:r>
            <a:endParaRPr lang="fr-FR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04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365127"/>
            <a:ext cx="8610268" cy="77114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399" y="1980000"/>
            <a:ext cx="8604000" cy="396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977066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02/03/2015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867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368300"/>
            <a:ext cx="8610268" cy="68273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9400" y="1980000"/>
            <a:ext cx="4068000" cy="38160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968599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02/03/2015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1"/>
          </p:nvPr>
        </p:nvSpPr>
        <p:spPr>
          <a:xfrm>
            <a:off x="4825175" y="1980000"/>
            <a:ext cx="4068000" cy="38160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347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368298"/>
            <a:ext cx="8610268" cy="68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9400" y="1980000"/>
            <a:ext cx="4068000" cy="823912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9400" y="2987999"/>
            <a:ext cx="4068000" cy="2844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2"/>
          </p:nvPr>
        </p:nvSpPr>
        <p:spPr>
          <a:xfrm>
            <a:off x="968599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02/03/2015</a:t>
            </a:r>
            <a:endParaRPr lang="fr-FR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3"/>
          </p:nvPr>
        </p:nvSpPr>
        <p:spPr>
          <a:xfrm>
            <a:off x="4825175" y="1980000"/>
            <a:ext cx="4068000" cy="823912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4825175" y="2987999"/>
            <a:ext cx="4068000" cy="2844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292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923" y="368300"/>
            <a:ext cx="684000" cy="684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215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399" y="368300"/>
            <a:ext cx="8610269" cy="684000"/>
          </a:xfrm>
          <a:prstGeom prst="rect">
            <a:avLst/>
          </a:prstGeo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572000" y="1979999"/>
            <a:ext cx="4321175" cy="385353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9399" y="1980000"/>
            <a:ext cx="3979334" cy="3853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985533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02/03/2015</a:t>
            </a:r>
            <a:endParaRPr lang="fr-FR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437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398" y="368300"/>
            <a:ext cx="8610269" cy="6840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9" y="1980000"/>
            <a:ext cx="4321175" cy="381989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9400" y="1980000"/>
            <a:ext cx="4292598" cy="38198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ctr" defTabSz="914377" rtl="0" eaLnBrk="1" latinLnBrk="0" hangingPunct="1">
              <a:defRPr sz="1200" kern="1200">
                <a:solidFill>
                  <a:schemeClr val="accent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997175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02/03/2015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077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365126"/>
            <a:ext cx="8610268" cy="68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9399" y="1980000"/>
            <a:ext cx="8613775" cy="357981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ctr" defTabSz="914377" rtl="0" eaLnBrk="1" latinLnBrk="0" hangingPunct="1">
              <a:defRPr sz="1200" kern="1200">
                <a:solidFill>
                  <a:schemeClr val="accent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977066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02/03/2015</a:t>
            </a:r>
            <a:endParaRPr lang="fr-FR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10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3838" y="365125"/>
            <a:ext cx="923925" cy="5231342"/>
          </a:xfrm>
          <a:prstGeom prst="rect">
            <a:avLst/>
          </a:prstGeo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9401" y="368300"/>
            <a:ext cx="7190106" cy="52281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ctr" defTabSz="914377" rtl="0" eaLnBrk="1" latinLnBrk="0" hangingPunct="1">
              <a:defRPr sz="1200" kern="1200">
                <a:solidFill>
                  <a:schemeClr val="accent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968600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02/03/2015</a:t>
            </a:r>
            <a:endParaRPr lang="fr-FR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65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os Site We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000" y="368300"/>
            <a:ext cx="1080000" cy="1080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071" y="5589088"/>
            <a:ext cx="6394514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188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1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07467" y="2492374"/>
            <a:ext cx="4185708" cy="1116013"/>
          </a:xfrm>
          <a:prstGeom prst="rect">
            <a:avLst/>
          </a:prstGeom>
        </p:spPr>
        <p:txBody>
          <a:bodyPr anchor="b" anchorCtr="0"/>
          <a:lstStyle>
            <a:lvl1pPr algn="l">
              <a:defRPr u="none">
                <a:solidFill>
                  <a:srgbClr val="0061A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457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923" y="368300"/>
            <a:ext cx="6840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806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8606" y="368300"/>
            <a:ext cx="8614172" cy="684000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 dirty="0"/>
              <a:t>Table of contents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430001" y="2492375"/>
            <a:ext cx="6462778" cy="3116651"/>
          </a:xfr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  <a:lvl2pPr marL="0" marR="0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>
                <a:solidFill>
                  <a:srgbClr val="0061A1"/>
                </a:solidFill>
              </a:defRPr>
            </a:lvl2pPr>
          </a:lstStyle>
          <a:p>
            <a:pPr lvl="1"/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01477" y="6303176"/>
            <a:ext cx="1428524" cy="360000"/>
          </a:xfrm>
        </p:spPr>
        <p:txBody>
          <a:bodyPr/>
          <a:lstStyle/>
          <a:p>
            <a:r>
              <a:rPr lang="fr-FR"/>
              <a:t>02/03/2015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75FB-55A1-49FD-BB5D-E3FF8FAE849B}" type="slidenum">
              <a:rPr lang="fr-FR" smtClean="0"/>
              <a:t>‹#›</a:t>
            </a:fld>
            <a:endParaRPr lang="fr-FR"/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2121694" y="2492375"/>
            <a:ext cx="11906" cy="3116651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228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9399" y="368300"/>
            <a:ext cx="8610269" cy="716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9400" y="2492374"/>
            <a:ext cx="8613775" cy="11160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977066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02/03/2015</a:t>
            </a:r>
            <a:endParaRPr lang="fr-FR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426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365127"/>
            <a:ext cx="8610268" cy="77114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399" y="1980000"/>
            <a:ext cx="8604000" cy="396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977066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02/03/2015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817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368300"/>
            <a:ext cx="8610268" cy="68273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9400" y="1980000"/>
            <a:ext cx="4068000" cy="38160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968599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02/03/2015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1"/>
          </p:nvPr>
        </p:nvSpPr>
        <p:spPr>
          <a:xfrm>
            <a:off x="4825175" y="1980000"/>
            <a:ext cx="4068000" cy="38160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437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368298"/>
            <a:ext cx="8610268" cy="68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9400" y="1980000"/>
            <a:ext cx="4068000" cy="823912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9400" y="2987999"/>
            <a:ext cx="4068000" cy="2844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2"/>
          </p:nvPr>
        </p:nvSpPr>
        <p:spPr>
          <a:xfrm>
            <a:off x="968599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02/03/2015</a:t>
            </a:r>
            <a:endParaRPr lang="fr-FR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3"/>
          </p:nvPr>
        </p:nvSpPr>
        <p:spPr>
          <a:xfrm>
            <a:off x="4825175" y="1980000"/>
            <a:ext cx="4068000" cy="823912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4825175" y="2987999"/>
            <a:ext cx="4068000" cy="2844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3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923" y="368300"/>
            <a:ext cx="684000" cy="684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1273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399" y="368300"/>
            <a:ext cx="8610269" cy="684000"/>
          </a:xfrm>
          <a:prstGeom prst="rect">
            <a:avLst/>
          </a:prstGeo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572000" y="1979999"/>
            <a:ext cx="4321175" cy="385353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9399" y="1980000"/>
            <a:ext cx="3979334" cy="3853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985533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02/03/2015</a:t>
            </a:r>
            <a:endParaRPr lang="fr-FR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082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398" y="368300"/>
            <a:ext cx="8610269" cy="6840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9" y="1980000"/>
            <a:ext cx="4321175" cy="381989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9400" y="1980000"/>
            <a:ext cx="4292598" cy="38198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ctr" defTabSz="914377" rtl="0" eaLnBrk="1" latinLnBrk="0" hangingPunct="1">
              <a:defRPr sz="1200" kern="1200">
                <a:solidFill>
                  <a:schemeClr val="accent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997175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02/03/2015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269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365126"/>
            <a:ext cx="8610268" cy="68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9399" y="1980000"/>
            <a:ext cx="8613775" cy="357981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ctr" defTabSz="914377" rtl="0" eaLnBrk="1" latinLnBrk="0" hangingPunct="1">
              <a:defRPr sz="1200" kern="1200">
                <a:solidFill>
                  <a:schemeClr val="accent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977066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02/03/2015</a:t>
            </a:r>
            <a:endParaRPr lang="fr-FR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648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3837" y="365125"/>
            <a:ext cx="923925" cy="5231342"/>
          </a:xfrm>
          <a:prstGeom prst="rect">
            <a:avLst/>
          </a:prstGeo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9400" y="368300"/>
            <a:ext cx="7381282" cy="52281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ctr" defTabSz="914377" rtl="0" eaLnBrk="1" latinLnBrk="0" hangingPunct="1">
              <a:defRPr sz="1200" kern="1200">
                <a:solidFill>
                  <a:schemeClr val="accent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968600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02/03/2015</a:t>
            </a:r>
            <a:endParaRPr lang="fr-FR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5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Site We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000" y="368300"/>
            <a:ext cx="1080000" cy="1080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071" y="5589088"/>
            <a:ext cx="6394514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68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1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_rels/slideMaster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10" Type="http://schemas.openxmlformats.org/officeDocument/2006/relationships/slideLayout" Target="../slideLayouts/slideLayout22.xml"  /><Relationship Id="rId11" Type="http://schemas.openxmlformats.org/officeDocument/2006/relationships/slideLayout" Target="../slideLayouts/slideLayout23.xml"  /><Relationship Id="rId12" Type="http://schemas.openxmlformats.org/officeDocument/2006/relationships/slideLayout" Target="../slideLayouts/slideLayout24.xml"  /><Relationship Id="rId13" Type="http://schemas.openxmlformats.org/officeDocument/2006/relationships/theme" Target="../theme/theme2.xml"  /><Relationship Id="rId14" Type="http://schemas.openxmlformats.org/officeDocument/2006/relationships/image" Target="../media/image5.wmf"  /><Relationship Id="rId2" Type="http://schemas.openxmlformats.org/officeDocument/2006/relationships/slideLayout" Target="../slideLayouts/slideLayout14.xml"  /><Relationship Id="rId3" Type="http://schemas.openxmlformats.org/officeDocument/2006/relationships/slideLayout" Target="../slideLayouts/slideLayout15.xml"  /><Relationship Id="rId4" Type="http://schemas.openxmlformats.org/officeDocument/2006/relationships/slideLayout" Target="../slideLayouts/slideLayout16.xml"  /><Relationship Id="rId5" Type="http://schemas.openxmlformats.org/officeDocument/2006/relationships/slideLayout" Target="../slideLayouts/slideLayout17.xml"  /><Relationship Id="rId6" Type="http://schemas.openxmlformats.org/officeDocument/2006/relationships/slideLayout" Target="../slideLayouts/slideLayout18.xml"  /><Relationship Id="rId7" Type="http://schemas.openxmlformats.org/officeDocument/2006/relationships/slideLayout" Target="../slideLayouts/slideLayout19.xml"  /><Relationship Id="rId8" Type="http://schemas.openxmlformats.org/officeDocument/2006/relationships/slideLayout" Target="../slideLayouts/slideLayout20.xml"  /><Relationship Id="rId9" Type="http://schemas.openxmlformats.org/officeDocument/2006/relationships/slideLayout" Target="../slideLayouts/slideLayout2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lvl1pPr algn="ctr">
              <a:defRPr sz="11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77066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02/03/2015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279400" y="371476"/>
            <a:ext cx="8603361" cy="68082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287999" y="1980000"/>
            <a:ext cx="8604000" cy="3816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9271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7" r:id="rId2"/>
    <p:sldLayoutId id="2147483675" r:id="rId3"/>
    <p:sldLayoutId id="2147483676" r:id="rId4"/>
    <p:sldLayoutId id="2147483678" r:id="rId5"/>
    <p:sldLayoutId id="2147483679" r:id="rId6"/>
    <p:sldLayoutId id="2147483681" r:id="rId7"/>
    <p:sldLayoutId id="2147483683" r:id="rId8"/>
    <p:sldLayoutId id="2147483682" r:id="rId9"/>
    <p:sldLayoutId id="2147483684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061A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4A10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4A1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4A1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4A1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4A1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176" userDrawn="1">
          <p15:clr>
            <a:srgbClr val="F26B43"/>
          </p15:clr>
        </p15:guide>
        <p15:guide id="4" orient="horz" pos="232" userDrawn="1">
          <p15:clr>
            <a:srgbClr val="F26B43"/>
          </p15:clr>
        </p15:guide>
        <p15:guide id="5" pos="5602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orient="horz" pos="1570" userDrawn="1">
          <p15:clr>
            <a:srgbClr val="F26B43"/>
          </p15:clr>
        </p15:guide>
        <p15:guide id="8" orient="horz" pos="290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lvl1pPr algn="ctr">
              <a:defRPr sz="11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77066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02/03/2015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279400" y="371476"/>
            <a:ext cx="8603361" cy="68082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287999" y="1980000"/>
            <a:ext cx="8604000" cy="3816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72863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061A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4A10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4A1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4A1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4A1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4A1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>
          <p15:clr>
            <a:srgbClr val="F26B43"/>
          </p15:clr>
        </p15:guide>
        <p15:guide id="2" pos="2880">
          <p15:clr>
            <a:srgbClr val="F26B43"/>
          </p15:clr>
        </p15:guide>
        <p15:guide id="3" pos="176">
          <p15:clr>
            <a:srgbClr val="F26B43"/>
          </p15:clr>
        </p15:guide>
        <p15:guide id="4" orient="horz" pos="232">
          <p15:clr>
            <a:srgbClr val="F26B43"/>
          </p15:clr>
        </p15:guide>
        <p15:guide id="5" pos="5602">
          <p15:clr>
            <a:srgbClr val="F26B43"/>
          </p15:clr>
        </p15:guide>
        <p15:guide id="6" orient="horz" pos="4201">
          <p15:clr>
            <a:srgbClr val="F26B43"/>
          </p15:clr>
        </p15:guide>
        <p15:guide id="7" orient="horz" pos="1570">
          <p15:clr>
            <a:srgbClr val="F26B43"/>
          </p15:clr>
        </p15:guide>
        <p15:guide id="8" orient="horz" pos="2908">
          <p15:clr>
            <a:srgbClr val="F26B43"/>
          </p15:clr>
        </p15:guide>
      </p15:sldGuideLst>
    </p:ext>
  </p:extLst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6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4.xml"  /><Relationship Id="rId3" Type="http://schemas.openxmlformats.org/officeDocument/2006/relationships/image" Target="../media/image7.jpe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4.xml"  /><Relationship Id="rId3" Type="http://schemas.openxmlformats.org/officeDocument/2006/relationships/image" Target="../media/image7.jpe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4.xml"  /><Relationship Id="rId3" Type="http://schemas.openxmlformats.org/officeDocument/2006/relationships/image" Target="../media/image7.jpe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4.xml"  /><Relationship Id="rId3" Type="http://schemas.openxmlformats.org/officeDocument/2006/relationships/image" Target="../media/image7.jpe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4.xml"  /><Relationship Id="rId3" Type="http://schemas.openxmlformats.org/officeDocument/2006/relationships/image" Target="../media/image7.jpe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4.xml"  /><Relationship Id="rId3" Type="http://schemas.openxmlformats.org/officeDocument/2006/relationships/image" Target="../media/image7.jpeg"  /><Relationship Id="rId4" Type="http://schemas.openxmlformats.org/officeDocument/2006/relationships/image" Target="../media/image8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4.xml"  /><Relationship Id="rId3" Type="http://schemas.openxmlformats.org/officeDocument/2006/relationships/image" Target="../media/image7.jpeg"  /><Relationship Id="rId4" Type="http://schemas.openxmlformats.org/officeDocument/2006/relationships/image" Target="../media/image9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2" Type="http://schemas.openxmlformats.org/officeDocument/2006/relationships/image" Target="../media/image10.jpe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4707466" y="1428750"/>
            <a:ext cx="4427999" cy="203158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Smart Event Management</a:t>
            </a:r>
            <a:br>
              <a:rPr lang="ko-KR" altLang="en-US"/>
            </a:br>
            <a:r>
              <a:rPr lang="en-US" altLang="ko-KR"/>
              <a:t>Web Application</a:t>
            </a:r>
            <a:endParaRPr lang="en-US" altLang="ko-KR"/>
          </a:p>
        </p:txBody>
      </p:sp>
      <p:sp>
        <p:nvSpPr>
          <p:cNvPr id="6" name="Rectangle 5"/>
          <p:cNvSpPr/>
          <p:nvPr/>
        </p:nvSpPr>
        <p:spPr>
          <a:xfrm>
            <a:off x="4707466" y="3659190"/>
            <a:ext cx="4428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B0AF7AE-434E-4642-9A9E-781575947C1D}"/>
              </a:ext>
            </a:extLst>
          </p:cNvPr>
          <p:cNvSpPr txBox="1"/>
          <p:nvPr/>
        </p:nvSpPr>
        <p:spPr>
          <a:xfrm>
            <a:off x="4707467" y="3964968"/>
            <a:ext cx="43755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Century Gothic" panose="020B0502020202020204" pitchFamily="34" charset="0"/>
              </a:rPr>
              <a:t>JINA HWANG</a:t>
            </a:r>
          </a:p>
          <a:p>
            <a:pPr algn="r"/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Century Gothic" panose="020B0502020202020204" pitchFamily="34" charset="0"/>
              </a:rPr>
              <a:t>MINKYEONG KANG</a:t>
            </a:r>
            <a:endParaRPr lang="fr-FR" sz="2000" dirty="0">
              <a:solidFill>
                <a:schemeClr val="accent6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3EB18C4-FF22-E1FD-3DE8-5353C7EC3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972" y="186990"/>
            <a:ext cx="1032527" cy="104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544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56CE5-DD07-3BE6-4B54-BE5224F1B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A8875FB-55A1-49FD-BB5D-E3FF8FAE849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279400" y="365127"/>
            <a:ext cx="8610268" cy="771146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/>
              <a:t>Technology Stack Selection</a:t>
            </a:r>
            <a:endParaRPr lang="en-US" altLang="ko-KR" sz="2800" b="1"/>
          </a:p>
        </p:txBody>
      </p:sp>
      <p:pic>
        <p:nvPicPr>
          <p:cNvPr id="4" name="Image 3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93A2D0CA-3E76-7D5A-5897-8D28729C4C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044" y="5908178"/>
            <a:ext cx="2365797" cy="832761"/>
          </a:xfrm>
          <a:prstGeom prst="rect">
            <a:avLst/>
          </a:prstGeom>
        </p:spPr>
      </p:pic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279400" y="1021973"/>
          <a:ext cx="8604504" cy="5253481"/>
        </p:xfrm>
        <a:graphic>
          <a:graphicData uri="http://schemas.openxmlformats.org/drawingml/2006/table">
            <a:tbl>
              <a:tblGrid>
                <a:gridCol w="2148840"/>
                <a:gridCol w="2158365"/>
                <a:gridCol w="2034540"/>
                <a:gridCol w="2262759"/>
              </a:tblGrid>
              <a:tr h="228663">
                <a:tc>
                  <a:txBody>
                    <a:bodyPr vert="horz" lIns="72009" tIns="0" rIns="0" bIns="0" anchor="ctr" anchorCtr="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400" b="0" spc="50">
                          <a:effectLst/>
                          <a:latin typeface="Century Gothic"/>
                        </a:rPr>
                        <a:t>Category</a:t>
                      </a:r>
                      <a:endParaRPr lang="en-US" sz="1400" b="0" spc="50">
                        <a:latin typeface="Century Gothic"/>
                      </a:endParaRPr>
                    </a:p>
                  </a:txBody>
                  <a:tcPr marL="72009" marR="0" marT="0" marB="0" anchor="ctr">
                    <a:lnL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72009" tIns="0" rIns="0" bIns="0" anchor="ctr" anchorCtr="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400" b="0" spc="50">
                          <a:effectLst/>
                          <a:latin typeface="Century Gothic"/>
                        </a:rPr>
                        <a:t>Selected Tech</a:t>
                      </a:r>
                      <a:r>
                        <a:rPr lang="en-US" altLang="ko-KR" sz="1400" b="0" spc="50">
                          <a:effectLst/>
                          <a:latin typeface="Century Gothic"/>
                        </a:rPr>
                        <a:t>nologies</a:t>
                      </a:r>
                      <a:endParaRPr lang="en-US" sz="1400" b="0" spc="50">
                        <a:effectLst/>
                        <a:latin typeface="Century Gothic"/>
                      </a:endParaRPr>
                    </a:p>
                  </a:txBody>
                  <a:tcPr marL="72009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72009" tIns="0" rIns="0" bIns="0" anchor="ctr" anchorCtr="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400" b="0" spc="50">
                          <a:effectLst/>
                          <a:latin typeface="Century Gothic"/>
                        </a:rPr>
                        <a:t>Why </a:t>
                      </a:r>
                      <a:r>
                        <a:rPr lang="en-US" altLang="ko-KR" sz="1400" b="0" spc="50">
                          <a:effectLst/>
                          <a:latin typeface="Century Gothic"/>
                        </a:rPr>
                        <a:t>?</a:t>
                      </a:r>
                      <a:endParaRPr lang="ko-KR" altLang="en-US" sz="1400" b="0" spc="50">
                        <a:effectLst/>
                        <a:latin typeface="Century Gothic"/>
                      </a:endParaRPr>
                    </a:p>
                  </a:txBody>
                  <a:tcPr marL="72009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72009" tIns="0" rIns="0" bIns="0" anchor="ctr" anchorCtr="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400" b="0" spc="50">
                          <a:effectLst/>
                          <a:latin typeface="Century Gothic"/>
                        </a:rPr>
                        <a:t>Why not </a:t>
                      </a:r>
                      <a:r>
                        <a:rPr lang="en-US" altLang="ko-KR" sz="1400" b="0" spc="50">
                          <a:effectLst/>
                          <a:latin typeface="Century Gothic"/>
                        </a:rPr>
                        <a:t>?</a:t>
                      </a:r>
                      <a:endParaRPr lang="ko-KR" altLang="en-US" sz="1400" b="0" spc="50">
                        <a:effectLst/>
                        <a:latin typeface="Century Gothic"/>
                      </a:endParaRPr>
                    </a:p>
                  </a:txBody>
                  <a:tcPr marL="72009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151842">
                <a:tc rowSpan="2">
                  <a:txBody>
                    <a:bodyPr vert="horz" lIns="72009" tIns="0" rIns="0" bIns="0" anchor="ctr" anchorCtr="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400" b="0" spc="50">
                          <a:effectLst/>
                          <a:latin typeface="Century Gothic"/>
                        </a:rPr>
                        <a:t>Frontend</a:t>
                      </a:r>
                      <a:endParaRPr lang="en-US" sz="1400" b="0" spc="50">
                        <a:latin typeface="Century Gothic"/>
                      </a:endParaRPr>
                    </a:p>
                  </a:txBody>
                  <a:tcPr marL="72009" marR="0" marT="0" marB="0" anchor="ctr">
                    <a:lnL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72009" tIns="0" rIns="0" bIns="0" anchor="ctr" anchorCtr="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1600" b="1" spc="50">
                          <a:effectLst/>
                          <a:latin typeface="Century Gothic"/>
                        </a:rPr>
                        <a:t>HTML, CSS (Bootstrap)</a:t>
                      </a:r>
                      <a:endParaRPr lang="en-US" altLang="ko-KR" sz="1600" b="1" spc="50">
                        <a:effectLst/>
                        <a:latin typeface="Century Gothic"/>
                      </a:endParaRPr>
                    </a:p>
                  </a:txBody>
                  <a:tcPr marL="72009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72009" tIns="0" rIns="0" bIns="0" anchor="ctr" anchorCtr="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1400" b="0" spc="50">
                          <a:effectLst/>
                          <a:latin typeface="Century Gothic"/>
                        </a:rPr>
                        <a:t>Bootstrap: Enables rapid UI development with pre-built components.</a:t>
                      </a:r>
                      <a:endParaRPr lang="en-US" altLang="ko-KR" sz="1400" b="0" spc="50">
                        <a:effectLst/>
                        <a:latin typeface="Century Gothic"/>
                      </a:endParaRPr>
                    </a:p>
                  </a:txBody>
                  <a:tcPr marL="72009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72009" tIns="0" rIns="0" bIns="0" anchor="ctr" anchorCtr="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1400" b="0" spc="50">
                          <a:latin typeface="Century Gothic"/>
                        </a:rPr>
                        <a:t>Tailwind CSS: Requires more manual styling and increases development complexity compare to Bootstrap.</a:t>
                      </a:r>
                      <a:endParaRPr lang="en-US" altLang="ko-KR" sz="1400" b="0" spc="50">
                        <a:latin typeface="Century Gothic"/>
                      </a:endParaRPr>
                    </a:p>
                  </a:txBody>
                  <a:tcPr marL="72009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274466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/>
                    </a:p>
                  </a:txBody>
                  <a:tcPr marL="23704" marR="23704" marT="11852" marB="11852" anchor="ctr">
                    <a:lnL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72009" tIns="0" rIns="0" bIns="0" anchor="ctr" anchorCtr="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1600" b="1" spc="50">
                          <a:latin typeface="Century Gothic"/>
                        </a:rPr>
                        <a:t>Django Templates (JavaScript)</a:t>
                      </a:r>
                      <a:endParaRPr lang="en-US" altLang="ko-KR" sz="1600" b="1" spc="50">
                        <a:latin typeface="Century Gothic"/>
                      </a:endParaRPr>
                    </a:p>
                  </a:txBody>
                  <a:tcPr marL="72009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72009" tIns="0" rIns="0" bIns="0" anchor="ctr" anchorCtr="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1400" b="0" spc="50">
                          <a:latin typeface="Century Gothic"/>
                        </a:rPr>
                        <a:t>Django Templates: Allows easy integration between frontend and backend.</a:t>
                      </a:r>
                      <a:endParaRPr lang="en-US" altLang="ko-KR" sz="1400" b="0" spc="50">
                        <a:latin typeface="Century Gothic"/>
                      </a:endParaRPr>
                    </a:p>
                  </a:txBody>
                  <a:tcPr marL="72009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72009" tIns="0" rIns="0" bIns="0" anchor="ctr" anchorCtr="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1400" b="0" spc="50">
                          <a:effectLst/>
                          <a:latin typeface="Century Gothic"/>
                        </a:rPr>
                        <a:t>React.js: Adds unnecessary complexity such as API integration and state management beyond the project scope.</a:t>
                      </a:r>
                      <a:endParaRPr lang="en-US" sz="1400" b="0" spc="50">
                        <a:latin typeface="Century Gothic"/>
                      </a:endParaRPr>
                    </a:p>
                  </a:txBody>
                  <a:tcPr marL="72009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063047">
                <a:tc>
                  <a:txBody>
                    <a:bodyPr vert="horz" lIns="72009" tIns="0" rIns="0" bIns="0" anchor="ctr" anchorCtr="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400" b="0" spc="50">
                          <a:effectLst/>
                          <a:latin typeface="Century Gothic"/>
                        </a:rPr>
                        <a:t>Backend</a:t>
                      </a:r>
                      <a:endParaRPr lang="en-US" sz="1400" b="0" spc="50">
                        <a:latin typeface="Century Gothic"/>
                      </a:endParaRPr>
                    </a:p>
                  </a:txBody>
                  <a:tcPr marL="72009" marR="0" marT="0" marB="0" anchor="ctr">
                    <a:lnL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72009" tIns="0" rIns="0" bIns="0" anchor="ctr" anchorCtr="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600" b="1" spc="50">
                          <a:effectLst/>
                          <a:latin typeface="Century Gothic"/>
                        </a:rPr>
                        <a:t>Python (Django)</a:t>
                      </a:r>
                      <a:endParaRPr lang="en-US" sz="1600" b="1" spc="50">
                        <a:latin typeface="Century Gothic"/>
                      </a:endParaRPr>
                    </a:p>
                  </a:txBody>
                  <a:tcPr marL="72009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72009" tIns="0" rIns="0" bIns="0" anchor="ctr" anchorCtr="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400" b="0" spc="50">
                          <a:effectLst/>
                          <a:latin typeface="Century Gothic"/>
                        </a:rPr>
                        <a:t>Batteries Included: Built-in Auth, Admin Panel, and ORM to meet tight deadlines. </a:t>
                      </a:r>
                      <a:endParaRPr lang="en-US" sz="1400" b="0" spc="50">
                        <a:latin typeface="Century Gothic"/>
                      </a:endParaRPr>
                    </a:p>
                  </a:txBody>
                  <a:tcPr marL="72009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72009" tIns="0" rIns="0" bIns="0" anchor="ctr" anchorCtr="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400" b="0" spc="50">
                          <a:effectLst/>
                          <a:latin typeface="Century Gothic"/>
                        </a:rPr>
                        <a:t>Node.js: Requires manual setup for basic features like admin panels and security. </a:t>
                      </a:r>
                      <a:endParaRPr lang="en-US" sz="1400" b="0" spc="50">
                        <a:latin typeface="Century Gothic"/>
                      </a:endParaRPr>
                    </a:p>
                  </a:txBody>
                  <a:tcPr marL="72009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10953">
                <a:tc>
                  <a:txBody>
                    <a:bodyPr vert="horz" lIns="72009" tIns="0" rIns="0" bIns="0" anchor="ctr" anchorCtr="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400" b="0" spc="50">
                          <a:effectLst/>
                          <a:latin typeface="Century Gothic"/>
                        </a:rPr>
                        <a:t>Database</a:t>
                      </a:r>
                      <a:endParaRPr lang="en-US" sz="1400" b="0" spc="50">
                        <a:latin typeface="Century Gothic"/>
                      </a:endParaRPr>
                    </a:p>
                  </a:txBody>
                  <a:tcPr marL="72009" marR="0" marT="0" marB="0" anchor="ctr">
                    <a:lnL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72009" tIns="0" rIns="0" bIns="0" anchor="ctr" anchorCtr="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600" b="1" spc="50">
                          <a:effectLst/>
                          <a:latin typeface="Century Gothic"/>
                        </a:rPr>
                        <a:t>PostgreSQL</a:t>
                      </a:r>
                      <a:endParaRPr lang="en-US" sz="1600" b="1" spc="50">
                        <a:latin typeface="Century Gothic"/>
                      </a:endParaRPr>
                    </a:p>
                  </a:txBody>
                  <a:tcPr marL="72009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72009" tIns="0" rIns="0" bIns="0" anchor="ctr" anchorCtr="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400" b="0" spc="50">
                          <a:effectLst/>
                          <a:latin typeface="Century Gothic"/>
                        </a:rPr>
                        <a:t>Data Integrity: Essential for ACID transactions in payments and capacity management. </a:t>
                      </a:r>
                      <a:endParaRPr lang="en-US" altLang="ko-KR" sz="1400" b="0" spc="50">
                        <a:effectLst/>
                        <a:latin typeface="Century Gothic"/>
                      </a:endParaRPr>
                    </a:p>
                  </a:txBody>
                  <a:tcPr marL="72009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72009" tIns="0" rIns="0" bIns="0" anchor="ctr" anchorCtr="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400" b="0" spc="50">
                          <a:effectLst/>
                          <a:latin typeface="Century Gothic"/>
                        </a:rPr>
                        <a:t>MongoDB: Less suited for strict consistency needed in financial and inventory systems. </a:t>
                      </a:r>
                      <a:endParaRPr lang="en-US" sz="1400" b="0" spc="50">
                        <a:latin typeface="Century Gothic"/>
                      </a:endParaRPr>
                    </a:p>
                  </a:txBody>
                  <a:tcPr marL="72009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6217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335" y="1618407"/>
            <a:ext cx="8766920" cy="4344243"/>
          </a:xfrm>
        </p:spPr>
        <p:txBody>
          <a:bodyPr>
            <a:noAutofit/>
          </a:bodyPr>
          <a:lstStyle/>
          <a:p>
            <a:pPr>
              <a:spcBef>
                <a:spcPts val="2400"/>
              </a:spcBef>
              <a:buClr>
                <a:srgbClr val="0061a1"/>
              </a:buClr>
              <a:defRPr/>
            </a:pPr>
            <a:r>
              <a:rPr lang="en-US" sz="2000">
                <a:solidFill>
                  <a:srgbClr val="0061a1"/>
                </a:solidFill>
              </a:rPr>
              <a:t>Event Lifecycle Management : </a:t>
            </a:r>
            <a:r>
              <a:rPr lang="en-US" sz="2000"/>
              <a:t>Tools to create, configure, and update events, including</a:t>
            </a:r>
            <a:r>
              <a:rPr lang="en-US" altLang="ko-KR" sz="2000"/>
              <a:t> </a:t>
            </a:r>
            <a:r>
              <a:rPr lang="en-US" sz="2000"/>
              <a:t>date</a:t>
            </a:r>
            <a:r>
              <a:rPr lang="en-US" altLang="ko-KR" sz="2000"/>
              <a:t>/</a:t>
            </a:r>
            <a:r>
              <a:rPr lang="en-US" sz="2000"/>
              <a:t>time, capacity, pricing</a:t>
            </a:r>
            <a:r>
              <a:rPr lang="en-US" altLang="ko-KR" sz="2000"/>
              <a:t>, and event format(physical, virtual or hybrid)</a:t>
            </a:r>
            <a:r>
              <a:rPr lang="en-US" sz="2000"/>
              <a:t>.</a:t>
            </a:r>
            <a:endParaRPr lang="en-US" sz="2000"/>
          </a:p>
          <a:p>
            <a:pPr>
              <a:spcBef>
                <a:spcPts val="2400"/>
              </a:spcBef>
              <a:buClr>
                <a:srgbClr val="0061a1"/>
              </a:buClr>
              <a:defRPr/>
            </a:pPr>
            <a:r>
              <a:rPr lang="en-US" altLang="ar-SA" sz="2000">
                <a:solidFill>
                  <a:srgbClr val="0061a1"/>
                </a:solidFill>
              </a:rPr>
              <a:t>Attendee &amp; Ticket Tracking : </a:t>
            </a:r>
            <a:r>
              <a:rPr lang="en-US" altLang="ko-KR" sz="2000"/>
              <a:t>Tracking attendee registrations and ticket sales</a:t>
            </a:r>
            <a:r>
              <a:rPr lang="en-US" altLang="ar-SA" sz="2000"/>
              <a:t>.</a:t>
            </a:r>
            <a:endParaRPr lang="en-US" altLang="ar-SA" sz="2000"/>
          </a:p>
          <a:p>
            <a:pPr>
              <a:spcBef>
                <a:spcPts val="2400"/>
              </a:spcBef>
              <a:buClr>
                <a:srgbClr val="0061a1"/>
              </a:buClr>
              <a:defRPr/>
            </a:pPr>
            <a:r>
              <a:rPr lang="en-US" altLang="ar-SA" sz="2000">
                <a:solidFill>
                  <a:srgbClr val="0061a1"/>
                </a:solidFill>
              </a:rPr>
              <a:t>Communication System : </a:t>
            </a:r>
            <a:r>
              <a:rPr lang="en-US" altLang="ko-KR" sz="2000"/>
              <a:t>M</a:t>
            </a:r>
            <a:r>
              <a:rPr lang="en-US" altLang="ar-SA" sz="2000"/>
              <a:t>essaging system </a:t>
            </a:r>
            <a:r>
              <a:rPr lang="en-US" altLang="ko-KR" sz="2000"/>
              <a:t>f</a:t>
            </a:r>
            <a:r>
              <a:rPr lang="en-US" altLang="ar-SA" sz="2000"/>
              <a:t>o</a:t>
            </a:r>
            <a:r>
              <a:rPr lang="en-US" altLang="ko-KR" sz="2000"/>
              <a:t>r</a:t>
            </a:r>
            <a:r>
              <a:rPr lang="en-US" altLang="ar-SA" sz="2000"/>
              <a:t> communicat</a:t>
            </a:r>
            <a:r>
              <a:rPr lang="en-US" altLang="ko-KR" sz="2000"/>
              <a:t>ing</a:t>
            </a:r>
            <a:r>
              <a:rPr lang="en-US" altLang="ar-SA" sz="2000"/>
              <a:t> updates </a:t>
            </a:r>
            <a:r>
              <a:rPr lang="en-US" altLang="ko-KR" sz="2000"/>
              <a:t>and important information</a:t>
            </a:r>
            <a:r>
              <a:rPr lang="en-US" altLang="ar-SA" sz="2000"/>
              <a:t> to attendees.</a:t>
            </a:r>
            <a:endParaRPr lang="en-US" altLang="ar-SA" sz="2000"/>
          </a:p>
          <a:p>
            <a:pPr>
              <a:spcBef>
                <a:spcPts val="2400"/>
              </a:spcBef>
              <a:buClr>
                <a:srgbClr val="0061a1"/>
              </a:buClr>
              <a:defRPr/>
            </a:pPr>
            <a:r>
              <a:rPr lang="en-US" altLang="ko-KR" sz="2000">
                <a:solidFill>
                  <a:srgbClr val="0061a1"/>
                </a:solidFill>
              </a:rPr>
              <a:t>Performance Monitoring</a:t>
            </a:r>
            <a:r>
              <a:rPr lang="en-US" altLang="ar-SA" sz="2000">
                <a:solidFill>
                  <a:srgbClr val="0061a1"/>
                </a:solidFill>
              </a:rPr>
              <a:t> :</a:t>
            </a:r>
            <a:r>
              <a:rPr lang="en-US" altLang="ko-KR" sz="2000">
                <a:solidFill>
                  <a:srgbClr val="0061a1"/>
                </a:solidFill>
              </a:rPr>
              <a:t> </a:t>
            </a:r>
            <a:r>
              <a:rPr lang="en-US" altLang="ko-KR" sz="2000"/>
              <a:t>Monitoring event performance based on bookings, ticket sales, and user feedback</a:t>
            </a:r>
            <a:r>
              <a:rPr lang="en-US" altLang="ar-SA" sz="2000"/>
              <a:t>.</a:t>
            </a:r>
            <a:endParaRPr lang="en-US" altLang="ar-SA" sz="20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B0D8DC-4510-37D4-0B60-3F2DA6B78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A8875FB-55A1-49FD-BB5D-E3FF8FAE849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279400" y="365127"/>
            <a:ext cx="9057675" cy="771146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sz="2600" b="1"/>
              <a:t>Main Functionalities to Develop for Event Organizers</a:t>
            </a:r>
            <a:endParaRPr lang="en-US" sz="2600" b="1"/>
          </a:p>
        </p:txBody>
      </p:sp>
      <p:pic>
        <p:nvPicPr>
          <p:cNvPr id="4" name="Image 3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285CA2FD-88D3-68DB-928F-67A6255821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044" y="5908178"/>
            <a:ext cx="2365797" cy="83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376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335" y="1618407"/>
            <a:ext cx="8766920" cy="4344243"/>
          </a:xfrm>
        </p:spPr>
        <p:txBody>
          <a:bodyPr>
            <a:noAutofit/>
          </a:bodyPr>
          <a:lstStyle/>
          <a:p>
            <a:pPr>
              <a:spcBef>
                <a:spcPts val="2400"/>
              </a:spcBef>
              <a:buClr>
                <a:srgbClr val="0061a1"/>
              </a:buClr>
              <a:defRPr/>
            </a:pPr>
            <a:r>
              <a:rPr lang="en-US" altLang="ar-SA" sz="2000">
                <a:solidFill>
                  <a:srgbClr val="0061a1"/>
                </a:solidFill>
              </a:rPr>
              <a:t>Discovery &amp; Search : </a:t>
            </a:r>
            <a:r>
              <a:rPr lang="en-US" altLang="ko-KR" sz="2000"/>
              <a:t>Ability to b</a:t>
            </a:r>
            <a:r>
              <a:rPr lang="en-US" altLang="ar-SA" sz="2000"/>
              <a:t>rows</a:t>
            </a:r>
            <a:r>
              <a:rPr lang="en-US" altLang="ko-KR" sz="2000"/>
              <a:t>e</a:t>
            </a:r>
            <a:r>
              <a:rPr lang="en-US" altLang="ar-SA" sz="2000"/>
              <a:t> and search events by category, location or date.</a:t>
            </a:r>
            <a:endParaRPr lang="en-US" altLang="ar-SA" sz="2000"/>
          </a:p>
          <a:p>
            <a:pPr>
              <a:spcBef>
                <a:spcPts val="2400"/>
              </a:spcBef>
              <a:buClr>
                <a:srgbClr val="0061a1"/>
              </a:buClr>
              <a:defRPr/>
            </a:pPr>
            <a:r>
              <a:rPr lang="en-US" altLang="ar-SA" sz="2000">
                <a:solidFill>
                  <a:srgbClr val="0061a1"/>
                </a:solidFill>
              </a:rPr>
              <a:t>Booking </a:t>
            </a:r>
            <a:r>
              <a:rPr lang="en-US" altLang="ko-KR" sz="2000">
                <a:solidFill>
                  <a:srgbClr val="0061a1"/>
                </a:solidFill>
              </a:rPr>
              <a:t>&amp; Ticket Purchase </a:t>
            </a:r>
            <a:r>
              <a:rPr lang="en-US" altLang="ar-SA" sz="2000">
                <a:solidFill>
                  <a:srgbClr val="0061a1"/>
                </a:solidFill>
              </a:rPr>
              <a:t>: </a:t>
            </a:r>
            <a:r>
              <a:rPr lang="en-US" altLang="ar-SA" sz="2000"/>
              <a:t>Secure authentication and </a:t>
            </a:r>
            <a:r>
              <a:rPr lang="en-US" altLang="ko-KR" sz="2000"/>
              <a:t>efficient </a:t>
            </a:r>
            <a:r>
              <a:rPr lang="en-US" altLang="ar-SA" sz="2000"/>
              <a:t>ticket </a:t>
            </a:r>
            <a:r>
              <a:rPr lang="en-US" altLang="ko-KR" sz="2000"/>
              <a:t>booking </a:t>
            </a:r>
            <a:r>
              <a:rPr lang="en-US" altLang="ar-SA" sz="2000"/>
              <a:t>p</a:t>
            </a:r>
            <a:r>
              <a:rPr lang="en-US" altLang="ko-KR" sz="2000"/>
              <a:t>rocess</a:t>
            </a:r>
            <a:r>
              <a:rPr lang="en-US" altLang="ar-SA" sz="2000"/>
              <a:t>.</a:t>
            </a:r>
            <a:endParaRPr lang="en-US" altLang="ar-SA" sz="2000"/>
          </a:p>
          <a:p>
            <a:pPr>
              <a:spcBef>
                <a:spcPts val="2400"/>
              </a:spcBef>
              <a:buClr>
                <a:srgbClr val="0061a1"/>
              </a:buClr>
              <a:defRPr/>
            </a:pPr>
            <a:r>
              <a:rPr lang="en-US" altLang="ar-SA" sz="2000">
                <a:solidFill>
                  <a:srgbClr val="0061a1"/>
                </a:solidFill>
              </a:rPr>
              <a:t>Notifications </a:t>
            </a:r>
            <a:r>
              <a:rPr lang="en-US" altLang="ko-KR" sz="2000">
                <a:solidFill>
                  <a:srgbClr val="0061a1"/>
                </a:solidFill>
              </a:rPr>
              <a:t>&amp; Reminders </a:t>
            </a:r>
            <a:r>
              <a:rPr lang="en-US" altLang="ar-SA" sz="2000">
                <a:solidFill>
                  <a:srgbClr val="0061a1"/>
                </a:solidFill>
              </a:rPr>
              <a:t>: </a:t>
            </a:r>
            <a:r>
              <a:rPr lang="en-US" altLang="ko-KR" sz="2000"/>
              <a:t>Automated notifications and </a:t>
            </a:r>
            <a:r>
              <a:rPr lang="en-US" altLang="ar-SA" sz="2000"/>
              <a:t>reminders</a:t>
            </a:r>
            <a:r>
              <a:rPr lang="en-US" altLang="ko-KR" sz="2000"/>
              <a:t> </a:t>
            </a:r>
            <a:r>
              <a:rPr lang="en-US" altLang="ar-SA" sz="2000"/>
              <a:t>regarding schedule changes or cancellations.</a:t>
            </a:r>
            <a:endParaRPr lang="en-US" altLang="ar-SA" sz="2000"/>
          </a:p>
          <a:p>
            <a:pPr>
              <a:spcBef>
                <a:spcPts val="2400"/>
              </a:spcBef>
              <a:buClr>
                <a:srgbClr val="0061a1"/>
              </a:buClr>
              <a:defRPr/>
            </a:pPr>
            <a:r>
              <a:rPr lang="en-US" altLang="ar-SA" sz="2000">
                <a:solidFill>
                  <a:srgbClr val="0061a1"/>
                </a:solidFill>
              </a:rPr>
              <a:t>Fee</a:t>
            </a:r>
            <a:r>
              <a:rPr lang="en-US" altLang="ko-KR" sz="2000">
                <a:solidFill>
                  <a:srgbClr val="0061a1"/>
                </a:solidFill>
              </a:rPr>
              <a:t>d</a:t>
            </a:r>
            <a:r>
              <a:rPr lang="en-US" altLang="ar-SA" sz="2000">
                <a:solidFill>
                  <a:srgbClr val="0061a1"/>
                </a:solidFill>
              </a:rPr>
              <a:t>back System : </a:t>
            </a:r>
            <a:r>
              <a:rPr lang="en-US" altLang="ko-KR" sz="2000"/>
              <a:t>Submission of</a:t>
            </a:r>
            <a:r>
              <a:rPr lang="en-US" altLang="ar-SA" sz="2000"/>
              <a:t> rating</a:t>
            </a:r>
            <a:r>
              <a:rPr lang="en-US" altLang="ko-KR" sz="2000"/>
              <a:t>s</a:t>
            </a:r>
            <a:r>
              <a:rPr lang="en-US" altLang="ar-SA" sz="2000"/>
              <a:t> and </a:t>
            </a:r>
            <a:r>
              <a:rPr lang="en-US" altLang="ko-KR" sz="2000"/>
              <a:t>reviews after event participation</a:t>
            </a:r>
            <a:r>
              <a:rPr lang="en-US" altLang="ar-SA" sz="2000"/>
              <a:t>.</a:t>
            </a:r>
            <a:endParaRPr lang="en-US" altLang="ar-SA" sz="20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3F85A0-4BC5-BA61-9E52-DE1064FB5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A8875FB-55A1-49FD-BB5D-E3FF8FAE849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279400" y="365127"/>
            <a:ext cx="8610268" cy="771146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sz="2800" b="1"/>
              <a:t>Main Functionalities to Develop for Attendees</a:t>
            </a:r>
            <a:endParaRPr lang="en-US" sz="2800" b="1"/>
          </a:p>
        </p:txBody>
      </p:sp>
      <p:pic>
        <p:nvPicPr>
          <p:cNvPr id="4" name="Image 3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650740F0-2E14-2E48-44B1-49E5ABF2E7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044" y="5908178"/>
            <a:ext cx="2365797" cy="83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261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335" y="1618407"/>
            <a:ext cx="8766920" cy="4344243"/>
          </a:xfrm>
        </p:spPr>
        <p:txBody>
          <a:bodyPr>
            <a:noAutofit/>
          </a:bodyPr>
          <a:lstStyle/>
          <a:p>
            <a:pPr>
              <a:spcBef>
                <a:spcPts val="2400"/>
              </a:spcBef>
              <a:buClr>
                <a:srgbClr val="0061a1"/>
              </a:buClr>
              <a:defRPr/>
            </a:pPr>
            <a:r>
              <a:rPr lang="en-US" sz="2000">
                <a:solidFill>
                  <a:srgbClr val="0061a1"/>
                </a:solidFill>
              </a:rPr>
              <a:t>Platform </a:t>
            </a:r>
            <a:r>
              <a:rPr lang="en-US" altLang="ko-KR" sz="2000">
                <a:solidFill>
                  <a:srgbClr val="0061a1"/>
                </a:solidFill>
              </a:rPr>
              <a:t>Management</a:t>
            </a:r>
            <a:r>
              <a:rPr lang="en-US" sz="2000">
                <a:solidFill>
                  <a:srgbClr val="0061a1"/>
                </a:solidFill>
              </a:rPr>
              <a:t> : </a:t>
            </a:r>
            <a:r>
              <a:rPr lang="en-US" altLang="ko-KR" sz="2000">
                <a:solidFill>
                  <a:schemeClr val="tx1"/>
                </a:solidFill>
              </a:rPr>
              <a:t>M</a:t>
            </a:r>
            <a:r>
              <a:rPr lang="en-US" sz="2000">
                <a:solidFill>
                  <a:schemeClr val="tx1"/>
                </a:solidFill>
              </a:rPr>
              <a:t>anagement of all users</a:t>
            </a:r>
            <a:r>
              <a:rPr lang="en-US" altLang="ko-KR" sz="2000">
                <a:solidFill>
                  <a:schemeClr val="tx1"/>
                </a:solidFill>
              </a:rPr>
              <a:t>,</a:t>
            </a:r>
            <a:r>
              <a:rPr lang="en-US" sz="2000">
                <a:solidFill>
                  <a:schemeClr val="tx1"/>
                </a:solidFill>
              </a:rPr>
              <a:t> events</a:t>
            </a:r>
            <a:r>
              <a:rPr lang="en-US" altLang="ko-KR" sz="2000">
                <a:solidFill>
                  <a:schemeClr val="tx1"/>
                </a:solidFill>
              </a:rPr>
              <a:t>, and overall p</a:t>
            </a:r>
            <a:r>
              <a:rPr lang="en-US" sz="2000">
                <a:solidFill>
                  <a:schemeClr val="tx1"/>
                </a:solidFill>
              </a:rPr>
              <a:t>latform </a:t>
            </a:r>
            <a:r>
              <a:rPr lang="en-US" altLang="ko-KR" sz="2000">
                <a:solidFill>
                  <a:schemeClr val="tx1"/>
                </a:solidFill>
              </a:rPr>
              <a:t>operations</a:t>
            </a:r>
            <a:r>
              <a:rPr lang="en-US" sz="2000">
                <a:solidFill>
                  <a:schemeClr val="tx1"/>
                </a:solidFill>
              </a:rPr>
              <a:t>.</a:t>
            </a:r>
            <a:endParaRPr lang="en-US" sz="2000">
              <a:solidFill>
                <a:schemeClr val="tx1"/>
              </a:solidFill>
            </a:endParaRPr>
          </a:p>
          <a:p>
            <a:pPr>
              <a:spcBef>
                <a:spcPts val="2400"/>
              </a:spcBef>
              <a:buClr>
                <a:srgbClr val="0061a1"/>
              </a:buClr>
              <a:defRPr/>
            </a:pPr>
            <a:r>
              <a:rPr lang="en-US" altLang="ar-SA" sz="2000">
                <a:solidFill>
                  <a:srgbClr val="0061a1"/>
                </a:solidFill>
              </a:rPr>
              <a:t>Transaction Monitoring : </a:t>
            </a:r>
            <a:r>
              <a:rPr lang="en-US" altLang="ar-SA" sz="2000">
                <a:solidFill>
                  <a:schemeClr val="tx1"/>
                </a:solidFill>
              </a:rPr>
              <a:t>T</a:t>
            </a:r>
            <a:r>
              <a:rPr lang="en-US" altLang="ko-KR" sz="2000">
                <a:solidFill>
                  <a:schemeClr val="tx1"/>
                </a:solidFill>
              </a:rPr>
              <a:t>racking payments, ticket sales, and booking activities.</a:t>
            </a:r>
            <a:endParaRPr lang="en-US" altLang="ko-KR" sz="2000">
              <a:solidFill>
                <a:schemeClr val="tx1"/>
              </a:solidFill>
            </a:endParaRPr>
          </a:p>
          <a:p>
            <a:pPr>
              <a:spcBef>
                <a:spcPts val="2400"/>
              </a:spcBef>
              <a:buClr>
                <a:srgbClr val="0061a1"/>
              </a:buClr>
              <a:defRPr/>
            </a:pPr>
            <a:r>
              <a:rPr lang="en-US" altLang="ko-KR" sz="2000">
                <a:solidFill>
                  <a:srgbClr val="0061a1"/>
                </a:solidFill>
              </a:rPr>
              <a:t>Reporting &amp; Analytics</a:t>
            </a:r>
            <a:r>
              <a:rPr lang="en-US" altLang="ar-SA" sz="2000">
                <a:solidFill>
                  <a:srgbClr val="0061a1"/>
                </a:solidFill>
              </a:rPr>
              <a:t> : </a:t>
            </a:r>
            <a:r>
              <a:rPr lang="en-US" altLang="ko-KR" sz="2000">
                <a:solidFill>
                  <a:schemeClr val="tx1"/>
                </a:solidFill>
              </a:rPr>
              <a:t>Generating reports and statistics for platform usage and event performance.</a:t>
            </a:r>
            <a:endParaRPr lang="en-US" altLang="ko-KR" sz="2000">
              <a:solidFill>
                <a:schemeClr val="tx1"/>
              </a:solidFill>
            </a:endParaRPr>
          </a:p>
          <a:p>
            <a:pPr>
              <a:spcBef>
                <a:spcPts val="2400"/>
              </a:spcBef>
              <a:buClr>
                <a:srgbClr val="0061a1"/>
              </a:buClr>
              <a:defRPr/>
            </a:pPr>
            <a:r>
              <a:rPr lang="en-US" altLang="ar-SA" sz="2000">
                <a:solidFill>
                  <a:srgbClr val="0061a1"/>
                </a:solidFill>
              </a:rPr>
              <a:t>Waitlist Management : </a:t>
            </a:r>
            <a:r>
              <a:rPr lang="en-US" altLang="ko-KR" sz="2000">
                <a:solidFill>
                  <a:schemeClr val="tx1"/>
                </a:solidFill>
              </a:rPr>
              <a:t>Handling high-demand events with limited capacity through waitlist functionality.</a:t>
            </a:r>
            <a:endParaRPr lang="en-US" altLang="ko-KR" sz="200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1AE219-AC2C-9AE8-9F67-7E1C8E2EC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A8875FB-55A1-49FD-BB5D-E3FF8FAE849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279400" y="365127"/>
            <a:ext cx="8610268" cy="771146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sz="2800" b="1"/>
              <a:t>Main Functionalities to Develop for Admin</a:t>
            </a:r>
            <a:endParaRPr lang="en-US" sz="2800" b="1"/>
          </a:p>
        </p:txBody>
      </p:sp>
      <p:pic>
        <p:nvPicPr>
          <p:cNvPr id="4" name="Image 3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980816D2-B974-6E04-0E32-5246BDAD9A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044" y="5908178"/>
            <a:ext cx="2365797" cy="83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474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335" y="1399332"/>
            <a:ext cx="8766920" cy="4344243"/>
          </a:xfrm>
        </p:spPr>
        <p:txBody>
          <a:bodyPr>
            <a:noAutofit/>
          </a:bodyPr>
          <a:lstStyle/>
          <a:p>
            <a:pPr>
              <a:spcBef>
                <a:spcPts val="2400"/>
              </a:spcBef>
              <a:buClr>
                <a:srgbClr val="0061a1"/>
              </a:buClr>
              <a:defRPr/>
            </a:pPr>
            <a:r>
              <a:rPr lang="en-US" sz="2000">
                <a:solidFill>
                  <a:srgbClr val="0061a1"/>
                </a:solidFill>
              </a:rPr>
              <a:t>Architecture : </a:t>
            </a:r>
            <a:r>
              <a:rPr lang="en-US" altLang="ko-KR" sz="2000">
                <a:solidFill>
                  <a:schemeClr val="tx1"/>
                </a:solidFill>
              </a:rPr>
              <a:t>Web-based system built using Django backend and PostgreSQL database.</a:t>
            </a:r>
            <a:endParaRPr lang="en-US" altLang="ko-KR" sz="2000">
              <a:solidFill>
                <a:schemeClr val="tx1"/>
              </a:solidFill>
            </a:endParaRPr>
          </a:p>
          <a:p>
            <a:pPr>
              <a:spcBef>
                <a:spcPts val="2400"/>
              </a:spcBef>
              <a:buClr>
                <a:srgbClr val="0061a1"/>
              </a:buClr>
              <a:defRPr/>
            </a:pPr>
            <a:r>
              <a:rPr lang="en-US" altLang="ko-KR" sz="2000">
                <a:solidFill>
                  <a:srgbClr val="0061a1"/>
                </a:solidFill>
              </a:rPr>
              <a:t>Database Design</a:t>
            </a:r>
            <a:r>
              <a:rPr lang="en-US" altLang="ar-SA" sz="2000">
                <a:solidFill>
                  <a:srgbClr val="0061a1"/>
                </a:solidFill>
              </a:rPr>
              <a:t> : </a:t>
            </a:r>
            <a:r>
              <a:rPr lang="en-US" altLang="ko-KR" sz="2000">
                <a:solidFill>
                  <a:schemeClr val="tx1"/>
                </a:solidFill>
              </a:rPr>
              <a:t>Relational structure managing users, events, bookings, payments, and reviews.</a:t>
            </a:r>
            <a:endParaRPr lang="en-US" altLang="ko-KR" sz="2000">
              <a:solidFill>
                <a:schemeClr val="tx1"/>
              </a:solidFill>
            </a:endParaRPr>
          </a:p>
          <a:p>
            <a:pPr>
              <a:spcBef>
                <a:spcPts val="2400"/>
              </a:spcBef>
              <a:buClr>
                <a:srgbClr val="0061a1"/>
              </a:buClr>
              <a:defRPr/>
            </a:pPr>
            <a:r>
              <a:rPr lang="en-US" altLang="ko-KR" sz="2000">
                <a:solidFill>
                  <a:srgbClr val="0061a1"/>
                </a:solidFill>
              </a:rPr>
              <a:t>Event Structure</a:t>
            </a:r>
            <a:r>
              <a:rPr lang="en-US" altLang="ar-SA" sz="2000">
                <a:solidFill>
                  <a:srgbClr val="0061a1"/>
                </a:solidFill>
              </a:rPr>
              <a:t> : </a:t>
            </a:r>
            <a:r>
              <a:rPr lang="en-US" altLang="ko-KR" sz="2000">
                <a:solidFill>
                  <a:schemeClr val="tx1"/>
                </a:solidFill>
              </a:rPr>
              <a:t>Supports physical, virtual, and hybrid events through structured attributes.</a:t>
            </a:r>
            <a:endParaRPr lang="en-US" altLang="ko-KR" sz="2000">
              <a:solidFill>
                <a:schemeClr val="tx1"/>
              </a:solidFill>
            </a:endParaRPr>
          </a:p>
          <a:p>
            <a:pPr>
              <a:spcBef>
                <a:spcPts val="2400"/>
              </a:spcBef>
              <a:buClr>
                <a:srgbClr val="0061a1"/>
              </a:buClr>
              <a:defRPr/>
            </a:pPr>
            <a:r>
              <a:rPr lang="en-US" altLang="ko-KR" sz="2000">
                <a:solidFill>
                  <a:srgbClr val="0061a1"/>
                </a:solidFill>
              </a:rPr>
              <a:t>Core Features</a:t>
            </a:r>
            <a:r>
              <a:rPr lang="en-US" sz="2000">
                <a:solidFill>
                  <a:srgbClr val="0061a1"/>
                </a:solidFill>
              </a:rPr>
              <a:t> : </a:t>
            </a:r>
            <a:r>
              <a:rPr lang="en-US" altLang="ko-KR" sz="2000">
                <a:solidFill>
                  <a:schemeClr val="tx1"/>
                </a:solidFill>
              </a:rPr>
              <a:t>Event management, ticket booking, payment tracking, and user feedback.</a:t>
            </a:r>
            <a:endParaRPr lang="en-US" altLang="ko-KR" sz="2000">
              <a:solidFill>
                <a:schemeClr val="tx1"/>
              </a:solidFill>
            </a:endParaRPr>
          </a:p>
          <a:p>
            <a:pPr>
              <a:spcBef>
                <a:spcPts val="2400"/>
              </a:spcBef>
              <a:buClr>
                <a:srgbClr val="0061a1"/>
              </a:buClr>
              <a:defRPr/>
            </a:pPr>
            <a:r>
              <a:rPr lang="en-US" altLang="ko-KR" sz="2000">
                <a:solidFill>
                  <a:srgbClr val="0061a1"/>
                </a:solidFill>
              </a:rPr>
              <a:t>Extended Features</a:t>
            </a:r>
            <a:r>
              <a:rPr lang="en-US" altLang="ar-SA" sz="2000">
                <a:solidFill>
                  <a:srgbClr val="0061a1"/>
                </a:solidFill>
              </a:rPr>
              <a:t> : </a:t>
            </a:r>
            <a:r>
              <a:rPr lang="en-US" altLang="ko-KR" sz="2000">
                <a:solidFill>
                  <a:schemeClr val="tx1"/>
                </a:solidFill>
              </a:rPr>
              <a:t>Notifications, waitlist handling, event updates, and messaging system.</a:t>
            </a:r>
            <a:endParaRPr lang="en-US" altLang="ko-KR" sz="2000">
              <a:solidFill>
                <a:schemeClr val="tx1"/>
              </a:solidFill>
            </a:endParaRPr>
          </a:p>
          <a:p>
            <a:pPr>
              <a:spcBef>
                <a:spcPts val="2400"/>
              </a:spcBef>
              <a:buClr>
                <a:srgbClr val="0061a1"/>
              </a:buClr>
              <a:defRPr/>
            </a:pPr>
            <a:r>
              <a:rPr lang="en-US" altLang="ko-KR" sz="2000">
                <a:solidFill>
                  <a:srgbClr val="0061a1"/>
                </a:solidFill>
              </a:rPr>
              <a:t>Future Extensions</a:t>
            </a:r>
            <a:r>
              <a:rPr lang="en-US" altLang="ar-SA" sz="2000">
                <a:solidFill>
                  <a:srgbClr val="0061a1"/>
                </a:solidFill>
              </a:rPr>
              <a:t> : </a:t>
            </a:r>
            <a:r>
              <a:rPr lang="en-US" altLang="ko-KR" sz="2000">
                <a:solidFill>
                  <a:schemeClr val="tx1"/>
                </a:solidFill>
              </a:rPr>
              <a:t>Real-time updates and advanced authentication considered for future implementation.</a:t>
            </a:r>
            <a:endParaRPr lang="en-US" altLang="ko-KR" sz="2000">
              <a:solidFill>
                <a:schemeClr val="tx1"/>
              </a:solidFill>
            </a:endParaRPr>
          </a:p>
          <a:p>
            <a:pPr>
              <a:spcBef>
                <a:spcPts val="2400"/>
              </a:spcBef>
              <a:buClr>
                <a:srgbClr val="0061a1"/>
              </a:buClr>
              <a:defRPr/>
            </a:pPr>
            <a:endParaRPr lang="en-US" altLang="ko-KR" sz="200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8EB176-2945-6B16-75B0-5CE1F5C05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A8875FB-55A1-49FD-BB5D-E3FF8FAE849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279400" y="365127"/>
            <a:ext cx="8610268" cy="771146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sz="2800" b="1"/>
              <a:t>Initial Architecture &amp; Design Decisions</a:t>
            </a:r>
            <a:endParaRPr lang="en-US" sz="2800" b="1"/>
          </a:p>
        </p:txBody>
      </p:sp>
      <p:pic>
        <p:nvPicPr>
          <p:cNvPr id="4" name="Image 3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84FFD427-7652-D2EA-BCD3-CB7FF5FC2B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044" y="5908178"/>
            <a:ext cx="2365797" cy="83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335" y="4974568"/>
            <a:ext cx="8766920" cy="1273832"/>
          </a:xfrm>
        </p:spPr>
        <p:txBody>
          <a:bodyPr>
            <a:noAutofit/>
          </a:bodyPr>
          <a:lstStyle/>
          <a:p>
            <a:pPr>
              <a:spcBef>
                <a:spcPts val="2400"/>
              </a:spcBef>
              <a:buClr>
                <a:srgbClr val="0061a1"/>
              </a:buClr>
              <a:defRPr/>
            </a:pPr>
            <a:r>
              <a:rPr lang="en-US" altLang="ko-KR" sz="2000">
                <a:solidFill>
                  <a:srgbClr val="0061a1"/>
                </a:solidFill>
              </a:rPr>
              <a:t>Core Entities : </a:t>
            </a:r>
            <a:r>
              <a:rPr lang="en-US" altLang="ko-KR" sz="2000">
                <a:solidFill>
                  <a:schemeClr val="tx1"/>
                </a:solidFill>
              </a:rPr>
              <a:t>Users, Events, Bookings, Payments, Reviews</a:t>
            </a:r>
            <a:endParaRPr lang="en-US" altLang="ko-KR" sz="2000">
              <a:solidFill>
                <a:schemeClr val="tx1"/>
              </a:solidFill>
            </a:endParaRPr>
          </a:p>
          <a:p>
            <a:pPr>
              <a:spcBef>
                <a:spcPts val="2400"/>
              </a:spcBef>
              <a:buClr>
                <a:srgbClr val="0061a1"/>
              </a:buClr>
              <a:defRPr/>
            </a:pPr>
            <a:r>
              <a:rPr lang="en-US" altLang="ko-KR" sz="2000">
                <a:solidFill>
                  <a:srgbClr val="0061a1"/>
                </a:solidFill>
              </a:rPr>
              <a:t>Key Relationships : </a:t>
            </a:r>
            <a:r>
              <a:rPr lang="en-US" altLang="ko-KR" sz="2000">
                <a:solidFill>
                  <a:schemeClr val="tx1"/>
                </a:solidFill>
              </a:rPr>
              <a:t>Users can create events and make bookings, while events manage ticket types and reviews.</a:t>
            </a:r>
            <a:endParaRPr lang="en-US" altLang="ko-KR" sz="2000">
              <a:solidFill>
                <a:schemeClr val="tx1"/>
              </a:solidFill>
            </a:endParaRPr>
          </a:p>
          <a:p>
            <a:pPr marL="0" indent="0">
              <a:spcBef>
                <a:spcPts val="2400"/>
              </a:spcBef>
              <a:buClr>
                <a:srgbClr val="0061a1"/>
              </a:buClr>
              <a:buNone/>
              <a:defRPr/>
            </a:pPr>
            <a:endParaRPr lang="fr-FR" sz="200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ECFA97-6276-7346-8B33-A181B96D5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A8875FB-55A1-49FD-BB5D-E3FF8FAE849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279400" y="365127"/>
            <a:ext cx="8610268" cy="771146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sz="2800" b="1"/>
              <a:t>Data Model (ERD)</a:t>
            </a:r>
            <a:endParaRPr lang="en-US" sz="2800" b="1"/>
          </a:p>
        </p:txBody>
      </p:sp>
      <p:pic>
        <p:nvPicPr>
          <p:cNvPr id="4" name="Image 3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FFC2C8B1-E616-6508-7C4B-2D11069F37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044" y="5908178"/>
            <a:ext cx="2365797" cy="832761"/>
          </a:xfrm>
          <a:prstGeom prst="rect">
            <a:avLst/>
          </a:prstGeom>
        </p:spPr>
      </p:pic>
      <p:pic>
        <p:nvPicPr>
          <p:cNvPr id="6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00102" y="1144826"/>
            <a:ext cx="7654147" cy="361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96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FEDD39-D876-100C-DC77-C55ED5E740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A8875FB-55A1-49FD-BB5D-E3FF8FAE849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279400" y="365127"/>
            <a:ext cx="8610268" cy="771146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sz="2800" b="1"/>
              <a:t>Database (Postgre</a:t>
            </a:r>
            <a:r>
              <a:rPr lang="en-US" altLang="ko-KR" sz="2800" b="1"/>
              <a:t>SQL</a:t>
            </a:r>
            <a:r>
              <a:rPr lang="en-US" sz="2800" b="1"/>
              <a:t>)</a:t>
            </a:r>
            <a:endParaRPr lang="en-US" sz="2800" b="1"/>
          </a:p>
        </p:txBody>
      </p:sp>
      <p:pic>
        <p:nvPicPr>
          <p:cNvPr id="4" name="Image 3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E9A72118-2310-DD55-3301-F41D0920C0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044" y="5908178"/>
            <a:ext cx="2365797" cy="832761"/>
          </a:xfrm>
          <a:prstGeom prst="rect">
            <a:avLst/>
          </a:prstGeom>
        </p:spPr>
      </p:pic>
      <p:sp>
        <p:nvSpPr>
          <p:cNvPr id="6" name=""/>
          <p:cNvSpPr/>
          <p:nvPr/>
        </p:nvSpPr>
        <p:spPr>
          <a:xfrm>
            <a:off x="277905" y="1023096"/>
            <a:ext cx="4963663" cy="1867410"/>
          </a:xfrm>
          <a:prstGeom prst="rect">
            <a:avLst/>
          </a:prstGeom>
          <a:noFill/>
          <a:ln w="28575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8" name="Content Placeholder 2"/>
          <p:cNvSpPr>
            <a:spLocks noGrp="1"/>
          </p:cNvSpPr>
          <p:nvPr/>
        </p:nvSpPr>
        <p:spPr>
          <a:xfrm>
            <a:off x="396129" y="1111595"/>
            <a:ext cx="4746008" cy="184115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p>
            <a:pPr marL="0" indent="0" defTabSz="914400">
              <a:lnSpc>
                <a:spcPct val="90000"/>
              </a:lnSpc>
              <a:spcBef>
                <a:spcPts val="879"/>
              </a:spcBef>
              <a:buClr>
                <a:srgbClr val="0061a1"/>
              </a:buClr>
              <a:buFont typeface="Arial"/>
              <a:buNone/>
              <a:defRPr/>
            </a:pPr>
            <a:r>
              <a:rPr lang="en-US" altLang="ko-KR" sz="2000" baseline="0">
                <a:solidFill>
                  <a:srgbClr val="0061a1"/>
                </a:solidFill>
                <a:latin typeface="맑은 고딕"/>
                <a:cs typeface="Calibri Light"/>
              </a:rPr>
              <a:t>Core Design Principles</a:t>
            </a:r>
            <a:endParaRPr lang="en-US" altLang="ko-KR" sz="2000" baseline="0">
              <a:solidFill>
                <a:srgbClr val="0061a1"/>
              </a:solidFill>
              <a:latin typeface="맑은 고딕"/>
              <a:cs typeface="Calibri Light"/>
            </a:endParaRPr>
          </a:p>
          <a:p>
            <a:pPr marL="228600" indent="-228600" defTabSz="914400">
              <a:lnSpc>
                <a:spcPct val="90000"/>
              </a:lnSpc>
              <a:spcBef>
                <a:spcPts val="879"/>
              </a:spcBef>
              <a:buClr>
                <a:srgbClr val="0061a1"/>
              </a:buClr>
              <a:buFont typeface="Arial"/>
              <a:buChar char="•"/>
              <a:defRPr/>
            </a:pPr>
            <a:r>
              <a:rPr lang="en-US" altLang="ko-KR" baseline="0">
                <a:solidFill>
                  <a:srgbClr val="000000"/>
                </a:solidFill>
                <a:latin typeface="맑은 고딕"/>
                <a:cs typeface="Calibri Light"/>
              </a:rPr>
              <a:t>Relational Structure</a:t>
            </a:r>
            <a:endParaRPr lang="en-US" altLang="ko-KR" baseline="0">
              <a:solidFill>
                <a:srgbClr val="000000"/>
              </a:solidFill>
              <a:latin typeface="맑은 고딕"/>
              <a:cs typeface="Calibri Light"/>
            </a:endParaRPr>
          </a:p>
          <a:p>
            <a:pPr marL="228600" indent="-228600" defTabSz="914400">
              <a:lnSpc>
                <a:spcPct val="90000"/>
              </a:lnSpc>
              <a:spcBef>
                <a:spcPts val="879"/>
              </a:spcBef>
              <a:buClr>
                <a:srgbClr val="0061a1"/>
              </a:buClr>
              <a:buFont typeface="Arial"/>
              <a:buChar char="•"/>
              <a:defRPr/>
            </a:pPr>
            <a:r>
              <a:rPr lang="en-US" altLang="ko-KR" baseline="0">
                <a:solidFill>
                  <a:srgbClr val="000000"/>
                </a:solidFill>
                <a:latin typeface="맑은 고딕"/>
                <a:cs typeface="Calibri Light"/>
              </a:rPr>
              <a:t>Data Integrity</a:t>
            </a:r>
            <a:endParaRPr lang="en-US" altLang="ko-KR" baseline="0">
              <a:solidFill>
                <a:srgbClr val="000000"/>
              </a:solidFill>
              <a:latin typeface="맑은 고딕"/>
              <a:cs typeface="Calibri Light"/>
            </a:endParaRPr>
          </a:p>
          <a:p>
            <a:pPr marL="228600" indent="-228600" defTabSz="914400">
              <a:lnSpc>
                <a:spcPct val="90000"/>
              </a:lnSpc>
              <a:spcBef>
                <a:spcPts val="879"/>
              </a:spcBef>
              <a:buClr>
                <a:srgbClr val="0061a1"/>
              </a:buClr>
              <a:buFont typeface="Arial"/>
              <a:buChar char="•"/>
              <a:defRPr/>
            </a:pPr>
            <a:r>
              <a:rPr lang="en-US" altLang="ko-KR" baseline="0">
                <a:solidFill>
                  <a:srgbClr val="000000"/>
                </a:solidFill>
                <a:latin typeface="맑은 고딕"/>
                <a:cs typeface="Calibri Light"/>
              </a:rPr>
              <a:t>Functional Separation</a:t>
            </a:r>
            <a:endParaRPr lang="en-US" altLang="ko-KR" baseline="0">
              <a:solidFill>
                <a:srgbClr val="000000"/>
              </a:solidFill>
              <a:latin typeface="맑은 고딕"/>
              <a:cs typeface="Calibri Light"/>
            </a:endParaRPr>
          </a:p>
          <a:p>
            <a:pPr marL="228600" indent="-228600" defTabSz="914400">
              <a:lnSpc>
                <a:spcPct val="90000"/>
              </a:lnSpc>
              <a:spcBef>
                <a:spcPts val="879"/>
              </a:spcBef>
              <a:buClr>
                <a:srgbClr val="0061a1"/>
              </a:buClr>
              <a:buFont typeface="Arial"/>
              <a:buChar char="•"/>
              <a:defRPr/>
            </a:pPr>
            <a:r>
              <a:rPr lang="en-US" altLang="ko-KR" baseline="0">
                <a:solidFill>
                  <a:srgbClr val="000000"/>
                </a:solidFill>
                <a:latin typeface="맑은 고딕"/>
                <a:cs typeface="Calibri Light"/>
              </a:rPr>
              <a:t>Scalability</a:t>
            </a:r>
            <a:endParaRPr lang="en-US" altLang="ko-KR" baseline="0">
              <a:solidFill>
                <a:srgbClr val="000000"/>
              </a:solidFill>
              <a:latin typeface="맑은 고딕"/>
              <a:cs typeface="Calibri Light"/>
            </a:endParaRPr>
          </a:p>
          <a:p>
            <a:pPr marL="0" indent="0" defTabSz="914400">
              <a:lnSpc>
                <a:spcPct val="90000"/>
              </a:lnSpc>
              <a:spcBef>
                <a:spcPts val="879"/>
              </a:spcBef>
              <a:buClr>
                <a:srgbClr val="0061a1"/>
              </a:buClr>
              <a:buFont typeface="Arial"/>
              <a:buNone/>
              <a:defRPr/>
            </a:pPr>
            <a:endParaRPr lang="fr-FR" sz="2000" baseline="0">
              <a:solidFill>
                <a:srgbClr val="000000"/>
              </a:solidFill>
              <a:latin typeface="맑은 고딕"/>
              <a:ea typeface="맑은 고딕"/>
              <a:cs typeface="Calibri Light"/>
            </a:endParaRPr>
          </a:p>
        </p:txBody>
      </p:sp>
      <p:sp>
        <p:nvSpPr>
          <p:cNvPr id="10" name=""/>
          <p:cNvSpPr/>
          <p:nvPr/>
        </p:nvSpPr>
        <p:spPr>
          <a:xfrm>
            <a:off x="299459" y="2991833"/>
            <a:ext cx="4963663" cy="1867411"/>
          </a:xfrm>
          <a:prstGeom prst="rect">
            <a:avLst/>
          </a:prstGeom>
          <a:noFill/>
          <a:ln w="28575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11" name="Content Placeholder 2"/>
          <p:cNvSpPr>
            <a:spLocks noGrp="1"/>
          </p:cNvSpPr>
          <p:nvPr/>
        </p:nvSpPr>
        <p:spPr>
          <a:xfrm>
            <a:off x="417683" y="3080331"/>
            <a:ext cx="5746134" cy="184115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p>
            <a:pPr marL="0" indent="0" defTabSz="914400">
              <a:lnSpc>
                <a:spcPct val="90000"/>
              </a:lnSpc>
              <a:spcBef>
                <a:spcPts val="879"/>
              </a:spcBef>
              <a:buClr>
                <a:srgbClr val="0061a1"/>
              </a:buClr>
              <a:buFont typeface="Arial"/>
              <a:buNone/>
              <a:defRPr/>
            </a:pPr>
            <a:r>
              <a:rPr lang="en-US" altLang="ko-KR" sz="2000" baseline="0">
                <a:solidFill>
                  <a:srgbClr val="0061a1"/>
                </a:solidFill>
                <a:latin typeface="맑은 고딕"/>
              </a:rPr>
              <a:t>Key Implementation Logic</a:t>
            </a:r>
            <a:endParaRPr lang="en-US" altLang="ko-KR" sz="2000" baseline="0">
              <a:solidFill>
                <a:srgbClr val="0061a1"/>
              </a:solidFill>
              <a:latin typeface="맑은 고딕"/>
            </a:endParaRPr>
          </a:p>
          <a:p>
            <a:pPr marL="228600" indent="-228600" defTabSz="914400">
              <a:lnSpc>
                <a:spcPct val="90000"/>
              </a:lnSpc>
              <a:spcBef>
                <a:spcPts val="879"/>
              </a:spcBef>
              <a:buClr>
                <a:srgbClr val="0061a1"/>
              </a:buClr>
              <a:buFont typeface="Arial"/>
              <a:buChar char="•"/>
              <a:defRPr/>
            </a:pPr>
            <a:r>
              <a:rPr lang="en-US" altLang="ko-KR" baseline="0">
                <a:solidFill>
                  <a:srgbClr val="000000"/>
                </a:solidFill>
                <a:latin typeface="맑은 고딕"/>
              </a:rPr>
              <a:t>Separate Bookings &amp; Payments</a:t>
            </a:r>
            <a:endParaRPr lang="en-US" altLang="ko-KR" baseline="0">
              <a:solidFill>
                <a:srgbClr val="000000"/>
              </a:solidFill>
              <a:latin typeface="맑은 고딕"/>
            </a:endParaRPr>
          </a:p>
          <a:p>
            <a:pPr marL="228600" indent="-228600" defTabSz="914400">
              <a:lnSpc>
                <a:spcPct val="90000"/>
              </a:lnSpc>
              <a:spcBef>
                <a:spcPts val="879"/>
              </a:spcBef>
              <a:buClr>
                <a:srgbClr val="0061a1"/>
              </a:buClr>
              <a:buFont typeface="Arial"/>
              <a:buChar char="•"/>
              <a:defRPr/>
            </a:pPr>
            <a:r>
              <a:rPr lang="en-US" altLang="ko-KR" baseline="0">
                <a:solidFill>
                  <a:srgbClr val="000000"/>
                </a:solidFill>
                <a:latin typeface="맑은 고딕"/>
              </a:rPr>
              <a:t>Event Capacity Control via Booking Records</a:t>
            </a:r>
            <a:endParaRPr lang="en-US" altLang="ko-KR" baseline="0">
              <a:solidFill>
                <a:srgbClr val="000000"/>
              </a:solidFill>
              <a:latin typeface="맑은 고딕"/>
            </a:endParaRPr>
          </a:p>
          <a:p>
            <a:pPr marL="228600" indent="-228600" defTabSz="914400">
              <a:lnSpc>
                <a:spcPct val="90000"/>
              </a:lnSpc>
              <a:spcBef>
                <a:spcPts val="879"/>
              </a:spcBef>
              <a:buClr>
                <a:srgbClr val="0061a1"/>
              </a:buClr>
              <a:buFont typeface="Arial"/>
              <a:buChar char="•"/>
              <a:defRPr/>
            </a:pPr>
            <a:r>
              <a:rPr lang="en-US" altLang="ko-KR" baseline="0">
                <a:solidFill>
                  <a:srgbClr val="000000"/>
                </a:solidFill>
                <a:latin typeface="맑은 고딕"/>
              </a:rPr>
              <a:t>Waitlist for Full Capacity Events</a:t>
            </a:r>
            <a:endParaRPr lang="en-US" altLang="ko-KR" baseline="0">
              <a:solidFill>
                <a:srgbClr val="000000"/>
              </a:solidFill>
              <a:latin typeface="맑은 고딕"/>
            </a:endParaRPr>
          </a:p>
          <a:p>
            <a:pPr marL="228600" indent="-228600" defTabSz="914400">
              <a:lnSpc>
                <a:spcPct val="90000"/>
              </a:lnSpc>
              <a:spcBef>
                <a:spcPts val="879"/>
              </a:spcBef>
              <a:buClr>
                <a:srgbClr val="0061a1"/>
              </a:buClr>
              <a:buFont typeface="Arial"/>
              <a:buChar char="•"/>
              <a:defRPr/>
            </a:pPr>
            <a:r>
              <a:rPr lang="en-US" altLang="ko-KR" baseline="0">
                <a:solidFill>
                  <a:srgbClr val="000000"/>
                </a:solidFill>
                <a:latin typeface="맑은 고딕"/>
              </a:rPr>
              <a:t>Extension Tables for Additional Features</a:t>
            </a:r>
            <a:endParaRPr lang="en-US" altLang="ko-KR" baseline="0">
              <a:solidFill>
                <a:srgbClr val="000000"/>
              </a:solidFill>
              <a:latin typeface="맑은 고딕"/>
            </a:endParaRPr>
          </a:p>
          <a:p>
            <a:pPr marL="0" indent="0" defTabSz="914400">
              <a:lnSpc>
                <a:spcPct val="90000"/>
              </a:lnSpc>
              <a:spcBef>
                <a:spcPts val="879"/>
              </a:spcBef>
              <a:buClr>
                <a:srgbClr val="0061a1"/>
              </a:buClr>
              <a:buFont typeface="Arial"/>
              <a:buNone/>
              <a:defRPr/>
            </a:pPr>
            <a:endParaRPr lang="fr-FR" baseline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2" name=""/>
          <p:cNvSpPr/>
          <p:nvPr/>
        </p:nvSpPr>
        <p:spPr>
          <a:xfrm>
            <a:off x="300602" y="4952745"/>
            <a:ext cx="4963663" cy="1312394"/>
          </a:xfrm>
          <a:prstGeom prst="rect">
            <a:avLst/>
          </a:prstGeom>
          <a:noFill/>
          <a:ln w="28575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13" name="Content Placeholder 2"/>
          <p:cNvSpPr>
            <a:spLocks noGrp="1"/>
          </p:cNvSpPr>
          <p:nvPr/>
        </p:nvSpPr>
        <p:spPr>
          <a:xfrm>
            <a:off x="418826" y="5003143"/>
            <a:ext cx="4793633" cy="1271908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p>
            <a:pPr marL="0" indent="0" defTabSz="914400">
              <a:lnSpc>
                <a:spcPct val="90000"/>
              </a:lnSpc>
              <a:spcBef>
                <a:spcPts val="879"/>
              </a:spcBef>
              <a:buClr>
                <a:srgbClr val="0061a1"/>
              </a:buClr>
              <a:buFont typeface="Arial"/>
              <a:buNone/>
              <a:defRPr/>
            </a:pPr>
            <a:r>
              <a:rPr lang="en-US" altLang="ko-KR" sz="2000" baseline="0">
                <a:solidFill>
                  <a:srgbClr val="0061a1"/>
                </a:solidFill>
                <a:latin typeface="맑은 고딕"/>
              </a:rPr>
              <a:t>Example Constraint</a:t>
            </a:r>
            <a:endParaRPr lang="en-US" altLang="ko-KR" sz="2000" baseline="0">
              <a:solidFill>
                <a:srgbClr val="0061a1"/>
              </a:solidFill>
              <a:latin typeface="맑은 고딕"/>
            </a:endParaRPr>
          </a:p>
          <a:p>
            <a:pPr marL="228600" indent="-228600" defTabSz="914400">
              <a:lnSpc>
                <a:spcPct val="90000"/>
              </a:lnSpc>
              <a:spcBef>
                <a:spcPts val="879"/>
              </a:spcBef>
              <a:buClr>
                <a:srgbClr val="0061a1"/>
              </a:buClr>
              <a:buFont typeface="Arial"/>
              <a:buChar char="•"/>
              <a:defRPr/>
            </a:pPr>
            <a:r>
              <a:rPr lang="en-US" altLang="ko-KR" baseline="0">
                <a:solidFill>
                  <a:srgbClr val="800080"/>
                </a:solidFill>
                <a:latin typeface="맑은 고딕"/>
              </a:rPr>
              <a:t>UNIQUE</a:t>
            </a:r>
            <a:r>
              <a:rPr lang="en-US" altLang="ko-KR" baseline="0">
                <a:solidFill>
                  <a:srgbClr val="000000"/>
                </a:solidFill>
                <a:latin typeface="맑은 고딕"/>
              </a:rPr>
              <a:t>(user_id, event_id)</a:t>
            </a:r>
            <a:endParaRPr lang="en-US" altLang="ko-KR" baseline="0">
              <a:solidFill>
                <a:srgbClr val="000000"/>
              </a:solidFill>
              <a:latin typeface="맑은 고딕"/>
            </a:endParaRPr>
          </a:p>
          <a:p>
            <a:pPr marL="228600" indent="-228600" defTabSz="914400">
              <a:lnSpc>
                <a:spcPct val="90000"/>
              </a:lnSpc>
              <a:spcBef>
                <a:spcPts val="879"/>
              </a:spcBef>
              <a:buClr>
                <a:srgbClr val="0061a1"/>
              </a:buClr>
              <a:buFont typeface="Arial"/>
              <a:buChar char="•"/>
              <a:defRPr/>
            </a:pPr>
            <a:r>
              <a:rPr lang="en-US" altLang="ko-KR" baseline="0">
                <a:solidFill>
                  <a:srgbClr val="000000"/>
                </a:solidFill>
                <a:latin typeface="맑은 고딕"/>
              </a:rPr>
              <a:t>Prevents duplicate bookings by the same user for the same event.</a:t>
            </a:r>
            <a:endParaRPr lang="en-US" altLang="ko-KR" baseline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308044" y="2559641"/>
            <a:ext cx="3743625" cy="142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7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54F43BFA-EBBE-C018-8683-B7F1745B94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956" y="164937"/>
            <a:ext cx="6350000" cy="22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2379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isep fond blanc">
  <a:themeElements>
    <a:clrScheme name="isep">
      <a:dk1>
        <a:sysClr val="windowText" lastClr="000000"/>
      </a:dk1>
      <a:lt1>
        <a:sysClr val="window" lastClr="ffffff"/>
      </a:lt1>
      <a:dk2>
        <a:srgbClr val="0061a1"/>
      </a:dk2>
      <a:lt2>
        <a:srgbClr val="e7e6e6"/>
      </a:lt2>
      <a:accent1>
        <a:srgbClr val="0061a1"/>
      </a:accent1>
      <a:accent2>
        <a:srgbClr val="4d90bd"/>
      </a:accent2>
      <a:accent3>
        <a:srgbClr val="b3d0e3"/>
      </a:accent3>
      <a:accent4>
        <a:srgbClr val="f4a100"/>
      </a:accent4>
      <a:accent5>
        <a:srgbClr val="eabd64"/>
      </a:accent5>
      <a:accent6>
        <a:srgbClr val="fce3b3"/>
      </a:accent6>
      <a:hlink>
        <a:srgbClr val="0061a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1_isep fond binaire">
  <a:themeElements>
    <a:clrScheme name="isep">
      <a:dk1>
        <a:sysClr val="windowText" lastClr="000000"/>
      </a:dk1>
      <a:lt1>
        <a:sysClr val="window" lastClr="ffffff"/>
      </a:lt1>
      <a:dk2>
        <a:srgbClr val="0061a1"/>
      </a:dk2>
      <a:lt2>
        <a:srgbClr val="e7e6e6"/>
      </a:lt2>
      <a:accent1>
        <a:srgbClr val="0061a1"/>
      </a:accent1>
      <a:accent2>
        <a:srgbClr val="4d90bd"/>
      </a:accent2>
      <a:accent3>
        <a:srgbClr val="b3d0e3"/>
      </a:accent3>
      <a:accent4>
        <a:srgbClr val="f4a100"/>
      </a:accent4>
      <a:accent5>
        <a:srgbClr val="eabd64"/>
      </a:accent5>
      <a:accent6>
        <a:srgbClr val="fce3b3"/>
      </a:accent6>
      <a:hlink>
        <a:srgbClr val="0061a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4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322</ep:Words>
  <ep:PresentationFormat>화면 슬라이드 쇼(4:3)</ep:PresentationFormat>
  <ep:Paragraphs>58</ep:Paragraphs>
  <ep:Slides>9</ep:Slides>
  <ep:Notes>8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9</vt:i4>
      </vt:variant>
    </vt:vector>
  </ep:HeadingPairs>
  <ep:TitlesOfParts>
    <vt:vector size="11" baseType="lpstr">
      <vt:lpstr>isep fond blanc</vt:lpstr>
      <vt:lpstr>1_isep fond binaire</vt:lpstr>
      <vt:lpstr>Smart Event Management Web Application</vt:lpstr>
      <vt:lpstr>Technology Stack Selection</vt:lpstr>
      <vt:lpstr>Main Functionalities to Develop for Event Organizers</vt:lpstr>
      <vt:lpstr>Main Functionalities to Develop for Attendees</vt:lpstr>
      <vt:lpstr>Main Functionalities to Develop for Admin</vt:lpstr>
      <vt:lpstr>Initial Architecture &amp; Design Decisions</vt:lpstr>
      <vt:lpstr>Data Model (ERD)</vt:lpstr>
      <vt:lpstr>Database (PostgreSQL)</vt:lpstr>
      <vt:lpstr>슬라이드 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2015-03-02T09:36:05.000</dcterms:created>
  <dc:creator>JMP</dc:creator>
  <cp:lastModifiedBy>55coc</cp:lastModifiedBy>
  <dcterms:modified xsi:type="dcterms:W3CDTF">2026-03-29T00:20:36.354</dcterms:modified>
  <cp:revision>943</cp:revision>
  <dc:title>PowerPoint Presentation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